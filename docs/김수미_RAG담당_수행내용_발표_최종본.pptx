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초점은 RAG 이론이 아니라 프로젝트에서 실제 수행한 역할과 산출물이다.</a:t>
            </a:r>
          </a:p>
          <a:p>
            <a:endParaRPr/>
          </a:p>
          <a:p>
            <a:r>
              <a:t>근거 자료: 20260903_PBL_2조_1일차_회의내용_정리_수정본 · 20260904_PBL_2조_2일차_회의내용_정리_팩트체크수정본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초기 회의에서 ‘LLM이 이미 아는 영어를 왜 RAG에 넣는가’를 핵심 질문으로 삼고, 일반 지식이 아니라 검증된 교육 기준과 고유 콘텐츠를 RAG에 넣는 방향을 정리했다.</a:t>
            </a:r>
          </a:p>
          <a:p>
            <a:endParaRPr/>
          </a:p>
          <a:p>
            <a:r>
              <a:t>근거 자료: 20260903_PBL_2조_1일차_회의내용_정리_수정본 §13~14 · 20260903_PBL_1일차_강사교육내용_정리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초등 영어에서 초3 MVP로 범위를 줄였고, 공식 기본 어휘 후보와 교육 콘텐츠를 RAG 지식으로 삼되 학습 로그는 별도 데이터로 분리했다.</a:t>
            </a:r>
          </a:p>
          <a:p>
            <a:endParaRPr/>
          </a:p>
          <a:p>
            <a:r>
              <a:t>근거 자료: 20260903_PBL_2조_1일차_회의내용_정리_수정본 §7~9 · 20260904_PBL_2조_2일차_회의내용_정리_팩트체크수정본 §28~32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원천 파일을 바로 벡터DB에 넣지 않고 Original, Curated, Enriched, Chunk 단계로 분리하는 파이프라인을 설계했다.</a:t>
            </a:r>
          </a:p>
          <a:p>
            <a:endParaRPr/>
          </a:p>
          <a:p>
            <a:r>
              <a:t>근거 자료: 20-1_RAG_구축_단계별_데이터_파이프라인 · golden_data_cleanup_rag_workflow_20260916.md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컬럼 정의를 공유하고 allowlist 원본을 보존한 채 반영/미확정 시트를 추가했다. 불일치 팩트체크와 수정 작업지시서를 작성해 데이터 수정 기준을 명시했다.</a:t>
            </a:r>
          </a:p>
          <a:p>
            <a:endParaRPr/>
          </a:p>
          <a:p>
            <a:r>
              <a:t>근거 자료: allowlist_40_검토확정_협의대상.xlsx · data_mismatch_factcheck_20260916.md · golden_data_factcheck_correction_work_order_v1.1.md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데이터 적재부터 서비스 호출까지의 연결 구조를 설계했다. 화면 흐름과 데이터 스키마가 서로 영향을 주므로 개발팀과 호출 시점을 함께 협의하는 역할을 맡았다.</a:t>
            </a:r>
          </a:p>
          <a:p>
            <a:endParaRPr/>
          </a:p>
          <a:p>
            <a:r>
              <a:t>근거 자료: 20260904_PBL_2조_2일차_회의내용_정리_팩트체크수정본 §15~16, §22~23 · 2026.09.14 데이터팀용 아키텍처 색인·검색·프롬프트.pptx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Chroma와 multilingual-e5-base를 기준으로 설정하고, 교육 의미 단위 Chunk와 메타데이터 조건 필터를 함께 검토했다. Reranker는 데이터 규모와 실패 유형을 본 뒤 판단하도록 보류했다.</a:t>
            </a:r>
          </a:p>
          <a:p>
            <a:endParaRPr/>
          </a:p>
          <a:p>
            <a:r>
              <a:t>근거 자료: .env 설정 검토 · 2026.09.14 데이터팀용 아키텍처 색인·검색·프롬프트.pptx · RAG 실패 유형 진단 대화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Golden Dataset을 Vector DB 원천 데이터와 구분하고, 질문·정답·기대 근거를 이용해 검색과 생성을 따로 평가하도록 설계했다.</a:t>
            </a:r>
          </a:p>
          <a:p>
            <a:endParaRPr/>
          </a:p>
          <a:p>
            <a:r>
              <a:t>근거 자료: 초등저학년_RAG_Gold_Dataset_30_컬럼정의.xlsx · 골든셋 재정비 산출물 · 20260903_PBL_2조_1일차_회의내용_정리_수정본 §14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수정 전·후를 같은 manifest, 모델, 검색 설정으로 비교하도록 설계했다. 현재까지 비교 파일과 기준은 마련했지만 최종 개선 수치를 임의로 제시하지 않는다.</a:t>
            </a:r>
          </a:p>
          <a:p>
            <a:endParaRPr/>
          </a:p>
          <a:p>
            <a:r>
              <a:t>근거 자료: golden_data_correction_compare_20260917.xlsx · golden_data_baseline_report_20260917_timeout180.md · data/rag_eval 변경 전·후 검토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타원 14">
            <a:extLst>
              <a:ext uri="{FF2B5EF4-FFF2-40B4-BE49-F238E27FC236}">
                <a16:creationId xmlns:a16="http://schemas.microsoft.com/office/drawing/2014/main" id="{36A61C4D-4031-4719-A6D8-2A1957E34816}"/>
              </a:ext>
            </a:extLst>
          </p:cNvPr>
          <p:cNvSpPr>
            <a:spLocks noGrp="1"/>
          </p:cNvSpPr>
          <p:nvPr/>
        </p:nvSpPr>
        <p:spPr>
          <a:xfrm>
            <a:off x="8858250" y="857250"/>
            <a:ext cx="1123950" cy="1123950"/>
          </a:xfrm>
          <a:prstGeom prst="ellipse">
            <a:avLst/>
          </a:prstGeom>
          <a:solidFill>
            <a:srgbClr val="16A89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F59180DF-F181-4E4F-A834-A8EC41872115}"/>
              </a:ext>
            </a:extLst>
          </p:cNvPr>
          <p:cNvSpPr>
            <a:spLocks noGrp="1"/>
          </p:cNvSpPr>
          <p:nvPr/>
        </p:nvSpPr>
        <p:spPr>
          <a:xfrm>
            <a:off x="10191750" y="2381250"/>
            <a:ext cx="590550" cy="590550"/>
          </a:xfrm>
          <a:prstGeom prst="ellipse">
            <a:avLst/>
          </a:prstGeom>
          <a:solidFill>
            <a:srgbClr val="4DAED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D99369F-3137-498A-A426-9972189A6E26}"/>
              </a:ext>
            </a:extLst>
          </p:cNvPr>
          <p:cNvSpPr>
            <a:spLocks noGrp="1"/>
          </p:cNvSpPr>
          <p:nvPr/>
        </p:nvSpPr>
        <p:spPr>
          <a:xfrm>
            <a:off x="8572500" y="3714750"/>
            <a:ext cx="800100" cy="800100"/>
          </a:xfrm>
          <a:prstGeom prst="ellipse">
            <a:avLst/>
          </a:prstGeom>
          <a:solidFill>
            <a:srgbClr val="F27A6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D520DFA-DC88-4BA7-8176-83236397A9F5}"/>
              </a:ext>
            </a:extLst>
          </p:cNvPr>
          <p:cNvSpPr>
            <a:spLocks noGrp="1"/>
          </p:cNvSpPr>
          <p:nvPr/>
        </p:nvSpPr>
        <p:spPr>
          <a:xfrm>
            <a:off x="10572750" y="4762500"/>
            <a:ext cx="1047750" cy="1047750"/>
          </a:xfrm>
          <a:prstGeom prst="ellipse">
            <a:avLst/>
          </a:prstGeom>
          <a:solidFill>
            <a:srgbClr val="E9B94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선 연결선 4">
            <a:extLst>
              <a:ext uri="{FF2B5EF4-FFF2-40B4-BE49-F238E27FC236}">
                <a16:creationId xmlns:a16="http://schemas.microsoft.com/office/drawing/2014/main" id="{61B594AD-7A94-4185-91F2-5596CEBE877B}"/>
              </a:ext>
            </a:extLst>
          </p:cNvPr>
          <p:cNvSpPr>
            <a:spLocks noGrp="1"/>
          </p:cNvSpPr>
          <p:nvPr/>
        </p:nvSpPr>
        <p:spPr>
          <a:xfrm>
            <a:off x="9429750" y="1809750"/>
            <a:ext cx="857250" cy="809625"/>
          </a:xfrm>
          <a:prstGeom prst="line">
            <a:avLst/>
          </a:prstGeom>
          <a:noFill/>
          <a:ln w="28575">
            <a:solidFill>
              <a:srgbClr val="7CCF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E66A1D0D-4050-4AA7-9644-254B63C745B0}"/>
              </a:ext>
            </a:extLst>
          </p:cNvPr>
          <p:cNvSpPr>
            <a:spLocks noGrp="1"/>
          </p:cNvSpPr>
          <p:nvPr/>
        </p:nvSpPr>
        <p:spPr>
          <a:xfrm>
            <a:off x="9220200" y="2762250"/>
            <a:ext cx="952500" cy="571500"/>
          </a:xfrm>
          <a:prstGeom prst="line">
            <a:avLst/>
          </a:prstGeom>
          <a:noFill/>
          <a:ln w="28575">
            <a:solidFill>
              <a:srgbClr val="80CB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1CCE6AA3-7CC9-413E-AC1B-4AA5BDF6FD1E}"/>
              </a:ext>
            </a:extLst>
          </p:cNvPr>
          <p:cNvSpPr>
            <a:spLocks noGrp="1"/>
          </p:cNvSpPr>
          <p:nvPr/>
        </p:nvSpPr>
        <p:spPr>
          <a:xfrm>
            <a:off x="9334500" y="4438650"/>
            <a:ext cx="1238250" cy="666750"/>
          </a:xfrm>
          <a:prstGeom prst="line">
            <a:avLst/>
          </a:prstGeom>
          <a:noFill/>
          <a:ln w="28575">
            <a:solidFill>
              <a:srgbClr val="F4B7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230A14B-C495-4305-B9C7-742CCB38F083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2000250" cy="304800"/>
          </a:xfrm>
          <a:prstGeom prst="roundRect">
            <a:avLst>
              <a:gd name="adj" fmla="val 50000"/>
            </a:avLst>
          </a:prstGeom>
          <a:solidFill>
            <a:srgbClr val="17364E"/>
          </a:solidFill>
          <a:ln w="9525">
            <a:solidFill>
              <a:srgbClr val="17364E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8CE0D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8CE0D5"/>
                </a:solidFill>
                <a:latin typeface="Noto Sans CJK KR"/>
                <a:ea typeface="Noto Sans CJK KR"/>
                <a:cs typeface="Noto Sans CJK KR"/>
              </a:rPr>
              <a:t>PROJECT ROLE REPORT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29ADC7-64A0-42B3-9A03-55CC5A740419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733425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4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4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초등 영어 RAG 구축에서</a:t>
            </a:r>
          </a:p>
          <a:p>
            <a:pPr algn="l">
              <a:lnSpc>
                <a:spcPct val="96000"/>
              </a:lnSpc>
              <a:buNone/>
              <a:defRPr sz="34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4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제가 실제로 진행한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8A9D5F-E6F6-4AD5-9E7A-91C2BD6E7E5F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C8D8E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C8D8E5"/>
                </a:solidFill>
                <a:latin typeface="Noto Sans CJK KR"/>
                <a:ea typeface="Noto Sans CJK KR"/>
                <a:cs typeface="Noto Sans CJK KR"/>
              </a:rPr>
              <a:t>데이터 기준 수립부터 검색 평가와 Baseline 검증까지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D13BDB42-B01B-4342-A0D8-23C03576208F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5905500" cy="0"/>
          </a:xfrm>
          <a:prstGeom prst="line">
            <a:avLst/>
          </a:prstGeom>
          <a:noFill/>
          <a:ln w="19050">
            <a:solidFill>
              <a:srgbClr val="3552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430D053-805B-43E5-8AF9-E3C78E525A1B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609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8CE0D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8CE0D5"/>
                </a:solidFill>
                <a:latin typeface="Noto Sans CJK KR"/>
                <a:ea typeface="Noto Sans CJK KR"/>
                <a:cs typeface="Noto Sans CJK KR"/>
              </a:rPr>
              <a:t>김수미  ·  데이터/RAG 담당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E0EFEB2-44DD-4022-B140-B8875B552203}"/>
              </a:ext>
            </a:extLst>
          </p:cNvPr>
          <p:cNvSpPr>
            <a:spLocks noGrp="1"/>
          </p:cNvSpPr>
          <p:nvPr/>
        </p:nvSpPr>
        <p:spPr>
          <a:xfrm>
            <a:off x="609600" y="4819650"/>
            <a:ext cx="6762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목표  검증 가능한 교육 콘텐츠 RAG를 설계하고, 데이터 수정 효과를 수치로 확인한다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1641FD-38E2-4819-8FE4-101D34947F3E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6191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9A1B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89A1B4"/>
                </a:solidFill>
                <a:latin typeface="Noto Sans CJK KR"/>
                <a:ea typeface="Noto Sans CJK KR"/>
                <a:cs typeface="Noto Sans CJK KR"/>
              </a:rPr>
              <a:t>NIPA-Google Study Jam PBL 기반 프로젝트(3기)</a:t>
            </a:r>
          </a:p>
        </p:txBody>
      </p:sp>
    </p:spTree>
    <p:extLst>
      <p:ext uri="{BB962C8B-B14F-4D97-AF65-F5344CB8AC3E}">
        <p14:creationId xmlns:p14="http://schemas.microsoft.com/office/powerpoint/2010/main" val="60319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72045A09-1635-4023-92DF-DF3E6D6462F7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809750" cy="304800"/>
          </a:xfrm>
          <a:prstGeom prst="roundRect">
            <a:avLst>
              <a:gd name="adj" fmla="val 50000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02  RAG 담당 수행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E597FE-8BEB-440C-A01B-801C1263B5B6}"/>
              </a:ext>
            </a:extLst>
          </p:cNvPr>
          <p:cNvSpPr>
            <a:spLocks noGrp="1"/>
          </p:cNvSpPr>
          <p:nvPr/>
        </p:nvSpPr>
        <p:spPr>
          <a:xfrm>
            <a:off x="533400" y="8191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초기 문제 정의 — 일반 LLM과 우리 RAG는 무엇이 다른가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7F9D4007-680E-45FE-8595-0ADE5BE2BA1C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11125200" cy="0"/>
          </a:xfrm>
          <a:prstGeom prst="line">
            <a:avLst/>
          </a:prstGeom>
          <a:noFill/>
          <a:ln w="9525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67586C5-23CD-458B-AF84-08091E7A810A}"/>
              </a:ext>
            </a:extLst>
          </p:cNvPr>
          <p:cNvSpPr>
            <a:spLocks noGrp="1"/>
          </p:cNvSpPr>
          <p:nvPr/>
        </p:nvSpPr>
        <p:spPr>
          <a:xfrm>
            <a:off x="533400" y="1762125"/>
            <a:ext cx="5372100" cy="3352800"/>
          </a:xfrm>
          <a:prstGeom prst="roundRect">
            <a:avLst>
              <a:gd name="adj" fmla="val 5682"/>
            </a:avLst>
          </a:prstGeom>
          <a:solidFill>
            <a:srgbClr val="EAF3F8"/>
          </a:solidFill>
          <a:ln w="9525">
            <a:solidFill>
              <a:srgbClr val="EAF3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35FEB6B-81BB-4BA7-8368-2ADEB2A89B55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028700" cy="3048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 w="9525">
            <a:solidFill>
              <a:srgbClr val="EAF3F8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rPr>
              <a:t>일반 LLM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ED0760D-E1B9-4619-83C0-020F08163CD2}"/>
              </a:ext>
            </a:extLst>
          </p:cNvPr>
          <p:cNvSpPr>
            <a:spLocks noGrp="1"/>
          </p:cNvSpPr>
          <p:nvPr/>
        </p:nvSpPr>
        <p:spPr>
          <a:xfrm>
            <a:off x="762000" y="2419350"/>
            <a:ext cx="4914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폭넓게 알고 있지만 프로젝트 기준을 보장하지 못함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3229F14-F0FE-42E9-9963-E6EC97D6847D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228600" cy="228600"/>
          </a:xfrm>
          <a:prstGeom prst="ellipse">
            <a:avLst/>
          </a:prstGeom>
          <a:solidFill>
            <a:srgbClr val="4DAED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7D4891-8BFF-4512-B862-D49294D249E5}"/>
              </a:ext>
            </a:extLst>
          </p:cNvPr>
          <p:cNvSpPr>
            <a:spLocks noGrp="1"/>
          </p:cNvSpPr>
          <p:nvPr/>
        </p:nvSpPr>
        <p:spPr>
          <a:xfrm>
            <a:off x="781050" y="3228975"/>
            <a:ext cx="228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8A9AAB3-AF39-44A3-949A-CE1E501EDCC6}"/>
              </a:ext>
            </a:extLst>
          </p:cNvPr>
          <p:cNvSpPr>
            <a:spLocks noGrp="1"/>
          </p:cNvSpPr>
          <p:nvPr/>
        </p:nvSpPr>
        <p:spPr>
          <a:xfrm>
            <a:off x="1143000" y="319087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초3 수준을 자동으로 지키지 못함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C2990DB-6249-4EDB-9214-75DC88D97067}"/>
              </a:ext>
            </a:extLst>
          </p:cNvPr>
          <p:cNvSpPr>
            <a:spLocks noGrp="1"/>
          </p:cNvSpPr>
          <p:nvPr/>
        </p:nvSpPr>
        <p:spPr>
          <a:xfrm>
            <a:off x="781050" y="3762375"/>
            <a:ext cx="228600" cy="228600"/>
          </a:xfrm>
          <a:prstGeom prst="ellipse">
            <a:avLst/>
          </a:prstGeom>
          <a:solidFill>
            <a:srgbClr val="4DAED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68BD26-F8EB-4CDD-A413-00B7515495FE}"/>
              </a:ext>
            </a:extLst>
          </p:cNvPr>
          <p:cNvSpPr>
            <a:spLocks noGrp="1"/>
          </p:cNvSpPr>
          <p:nvPr/>
        </p:nvSpPr>
        <p:spPr>
          <a:xfrm>
            <a:off x="781050" y="3781425"/>
            <a:ext cx="228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71DCCF4-151B-4FCE-9857-710CF072D151}"/>
              </a:ext>
            </a:extLst>
          </p:cNvPr>
          <p:cNvSpPr>
            <a:spLocks noGrp="1"/>
          </p:cNvSpPr>
          <p:nvPr/>
        </p:nvSpPr>
        <p:spPr>
          <a:xfrm>
            <a:off x="1143000" y="374332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답변 근거와 출처가 불분명할 수 있음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D5B55A5-DED9-431E-A475-12DFB4D643D1}"/>
              </a:ext>
            </a:extLst>
          </p:cNvPr>
          <p:cNvSpPr>
            <a:spLocks noGrp="1"/>
          </p:cNvSpPr>
          <p:nvPr/>
        </p:nvSpPr>
        <p:spPr>
          <a:xfrm>
            <a:off x="781050" y="4314825"/>
            <a:ext cx="228600" cy="228600"/>
          </a:xfrm>
          <a:prstGeom prst="ellipse">
            <a:avLst/>
          </a:prstGeom>
          <a:solidFill>
            <a:srgbClr val="4DAED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71F8704-DCFB-40D0-85C0-778BDA2B3335}"/>
              </a:ext>
            </a:extLst>
          </p:cNvPr>
          <p:cNvSpPr>
            <a:spLocks noGrp="1"/>
          </p:cNvSpPr>
          <p:nvPr/>
        </p:nvSpPr>
        <p:spPr>
          <a:xfrm>
            <a:off x="781050" y="4333875"/>
            <a:ext cx="228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69286A-63DC-4585-86E7-D81743EB90A3}"/>
              </a:ext>
            </a:extLst>
          </p:cNvPr>
          <p:cNvSpPr>
            <a:spLocks noGrp="1"/>
          </p:cNvSpPr>
          <p:nvPr/>
        </p:nvSpPr>
        <p:spPr>
          <a:xfrm>
            <a:off x="1143000" y="429577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팀이 정한 어휘·표현 기준과 어긋날 수 있음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BFE77C3-0D03-4D03-8410-FD003E8829E7}"/>
              </a:ext>
            </a:extLst>
          </p:cNvPr>
          <p:cNvSpPr>
            <a:spLocks noGrp="1"/>
          </p:cNvSpPr>
          <p:nvPr/>
        </p:nvSpPr>
        <p:spPr>
          <a:xfrm>
            <a:off x="6286500" y="1762125"/>
            <a:ext cx="5372100" cy="3352800"/>
          </a:xfrm>
          <a:prstGeom prst="roundRect">
            <a:avLst>
              <a:gd name="adj" fmla="val 5682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7EE6870-9BF5-4245-ABF5-6427EDB8BA74}"/>
              </a:ext>
            </a:extLst>
          </p:cNvPr>
          <p:cNvSpPr>
            <a:spLocks noGrp="1"/>
          </p:cNvSpPr>
          <p:nvPr/>
        </p:nvSpPr>
        <p:spPr>
          <a:xfrm>
            <a:off x="6515100" y="1971675"/>
            <a:ext cx="1028700" cy="304800"/>
          </a:xfrm>
          <a:prstGeom prst="roundRect">
            <a:avLst>
              <a:gd name="adj" fmla="val 50000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우리 RAG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107ACB9-3B3B-433C-83A4-4995B26233F7}"/>
              </a:ext>
            </a:extLst>
          </p:cNvPr>
          <p:cNvSpPr>
            <a:spLocks noGrp="1"/>
          </p:cNvSpPr>
          <p:nvPr/>
        </p:nvSpPr>
        <p:spPr>
          <a:xfrm>
            <a:off x="6515100" y="2419350"/>
            <a:ext cx="4914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검증한 자료를 찾아 답하도록 범위를 통제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112FCB9B-3D9A-452D-B794-41830AE0F9B8}"/>
              </a:ext>
            </a:extLst>
          </p:cNvPr>
          <p:cNvSpPr>
            <a:spLocks noGrp="1"/>
          </p:cNvSpPr>
          <p:nvPr/>
        </p:nvSpPr>
        <p:spPr>
          <a:xfrm>
            <a:off x="6534150" y="3209925"/>
            <a:ext cx="228600" cy="228600"/>
          </a:xfrm>
          <a:prstGeom prst="ellipse">
            <a:avLst/>
          </a:prstGeom>
          <a:solidFill>
            <a:srgbClr val="16A89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1BA9DD4-7F95-4C29-AD8D-10485A391B03}"/>
              </a:ext>
            </a:extLst>
          </p:cNvPr>
          <p:cNvSpPr>
            <a:spLocks noGrp="1"/>
          </p:cNvSpPr>
          <p:nvPr/>
        </p:nvSpPr>
        <p:spPr>
          <a:xfrm>
            <a:off x="6534150" y="3228975"/>
            <a:ext cx="228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C6BD47B-421A-456E-9F5B-FB8EC6058F0F}"/>
              </a:ext>
            </a:extLst>
          </p:cNvPr>
          <p:cNvSpPr>
            <a:spLocks noGrp="1"/>
          </p:cNvSpPr>
          <p:nvPr/>
        </p:nvSpPr>
        <p:spPr>
          <a:xfrm>
            <a:off x="6896100" y="319087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초3 교육 콘텐츠를 검색 범위로 제한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51D99D21-8CB8-47EB-B14E-0F9E28882FE7}"/>
              </a:ext>
            </a:extLst>
          </p:cNvPr>
          <p:cNvSpPr>
            <a:spLocks noGrp="1"/>
          </p:cNvSpPr>
          <p:nvPr/>
        </p:nvSpPr>
        <p:spPr>
          <a:xfrm>
            <a:off x="6534150" y="3762375"/>
            <a:ext cx="228600" cy="228600"/>
          </a:xfrm>
          <a:prstGeom prst="ellipse">
            <a:avLst/>
          </a:prstGeom>
          <a:solidFill>
            <a:srgbClr val="16A89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2A36C7B-CDF3-4D67-83BA-0ABABAA6D1CA}"/>
              </a:ext>
            </a:extLst>
          </p:cNvPr>
          <p:cNvSpPr>
            <a:spLocks noGrp="1"/>
          </p:cNvSpPr>
          <p:nvPr/>
        </p:nvSpPr>
        <p:spPr>
          <a:xfrm>
            <a:off x="6534150" y="3781425"/>
            <a:ext cx="228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367FA55-EC06-414E-92B8-71B33CABA44E}"/>
              </a:ext>
            </a:extLst>
          </p:cNvPr>
          <p:cNvSpPr>
            <a:spLocks noGrp="1"/>
          </p:cNvSpPr>
          <p:nvPr/>
        </p:nvSpPr>
        <p:spPr>
          <a:xfrm>
            <a:off x="6896100" y="374332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source_id와 근거 문서를 함께 관리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2F7A897-832F-465A-927D-354D6C95480E}"/>
              </a:ext>
            </a:extLst>
          </p:cNvPr>
          <p:cNvSpPr>
            <a:spLocks noGrp="1"/>
          </p:cNvSpPr>
          <p:nvPr/>
        </p:nvSpPr>
        <p:spPr>
          <a:xfrm>
            <a:off x="6534150" y="4314825"/>
            <a:ext cx="228600" cy="228600"/>
          </a:xfrm>
          <a:prstGeom prst="ellipse">
            <a:avLst/>
          </a:prstGeom>
          <a:solidFill>
            <a:srgbClr val="16A89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4D2FC4C-1269-4A72-9188-DD3423629F74}"/>
              </a:ext>
            </a:extLst>
          </p:cNvPr>
          <p:cNvSpPr>
            <a:spLocks noGrp="1"/>
          </p:cNvSpPr>
          <p:nvPr/>
        </p:nvSpPr>
        <p:spPr>
          <a:xfrm>
            <a:off x="6534150" y="4333875"/>
            <a:ext cx="228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4BC5BEB-73EB-4288-8308-306A4512087E}"/>
              </a:ext>
            </a:extLst>
          </p:cNvPr>
          <p:cNvSpPr>
            <a:spLocks noGrp="1"/>
          </p:cNvSpPr>
          <p:nvPr/>
        </p:nvSpPr>
        <p:spPr>
          <a:xfrm>
            <a:off x="6896100" y="429577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검색 결과와 생성 답변을 따로 평가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4F17BD8-D74B-4E3A-BC5A-D2AD68F0A169}"/>
              </a:ext>
            </a:extLst>
          </p:cNvPr>
          <p:cNvSpPr>
            <a:spLocks noGrp="1"/>
          </p:cNvSpPr>
          <p:nvPr/>
        </p:nvSpPr>
        <p:spPr>
          <a:xfrm>
            <a:off x="1571625" y="5429250"/>
            <a:ext cx="9048750" cy="685800"/>
          </a:xfrm>
          <a:prstGeom prst="roundRect">
            <a:avLst>
              <a:gd name="adj" fmla="val 25000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2686497-0575-4C34-98EF-D60400F2BEE8}"/>
              </a:ext>
            </a:extLst>
          </p:cNvPr>
          <p:cNvSpPr>
            <a:spLocks noGrp="1"/>
          </p:cNvSpPr>
          <p:nvPr/>
        </p:nvSpPr>
        <p:spPr>
          <a:xfrm>
            <a:off x="1809750" y="5629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8CE0D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8CE0D5"/>
                </a:solidFill>
                <a:latin typeface="Noto Sans CJK KR"/>
                <a:ea typeface="Noto Sans CJK KR"/>
                <a:cs typeface="Noto Sans CJK KR"/>
              </a:rPr>
              <a:t>핵심 정의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E5F43D1-1788-48E9-947D-BB27DE68C9D1}"/>
              </a:ext>
            </a:extLst>
          </p:cNvPr>
          <p:cNvSpPr>
            <a:spLocks noGrp="1"/>
          </p:cNvSpPr>
          <p:nvPr/>
        </p:nvSpPr>
        <p:spPr>
          <a:xfrm>
            <a:off x="3000375" y="5562600"/>
            <a:ext cx="7334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‘영어를 알려주는 AI’가 아니라 ‘우리 기준 자료를 찾아 초3 수준으로 답하는 AI’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A6AD1C2-833B-49E0-BAD4-E36F1C1F92BD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NIPA-Google Study Jam PBL 3기 · 2조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F87A9F8-B0E0-4744-A940-02EB2A5EBEAC}"/>
              </a:ext>
            </a:extLst>
          </p:cNvPr>
          <p:cNvSpPr>
            <a:spLocks noGrp="1"/>
          </p:cNvSpPr>
          <p:nvPr/>
        </p:nvSpPr>
        <p:spPr>
          <a:xfrm>
            <a:off x="10763250" y="6515100"/>
            <a:ext cx="8953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6313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E8B59CA-119A-416B-822F-F99C41E0F865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809750" cy="304800"/>
          </a:xfrm>
          <a:prstGeom prst="roundRect">
            <a:avLst>
              <a:gd name="adj" fmla="val 50000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03  RAG 담당 수행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0F64610-7CAF-44E9-BCD4-565D5A0653AB}"/>
              </a:ext>
            </a:extLst>
          </p:cNvPr>
          <p:cNvSpPr>
            <a:spLocks noGrp="1"/>
          </p:cNvSpPr>
          <p:nvPr/>
        </p:nvSpPr>
        <p:spPr>
          <a:xfrm>
            <a:off x="533400" y="8191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RAG 데이터 범위 결정 — 초3, 기본 어휘 후보, 교육 콘텐츠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F694F77D-A6F1-465A-9726-BB5A8B9AB190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11125200" cy="0"/>
          </a:xfrm>
          <a:prstGeom prst="line">
            <a:avLst/>
          </a:prstGeom>
          <a:noFill/>
          <a:ln w="9525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1C89162-3254-4032-B161-A8BADFFAF4FB}"/>
              </a:ext>
            </a:extLst>
          </p:cNvPr>
          <p:cNvSpPr>
            <a:spLocks noGrp="1"/>
          </p:cNvSpPr>
          <p:nvPr/>
        </p:nvSpPr>
        <p:spPr>
          <a:xfrm>
            <a:off x="533400" y="1600200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넓은 아이디어를 3주 PBL에서 검증 가능한 범위로 좁혔다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193AD0F-626A-4372-B756-A35D38917561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10668000" cy="590550"/>
          </a:xfrm>
          <a:prstGeom prst="roundRect">
            <a:avLst>
              <a:gd name="adj" fmla="val 25806"/>
            </a:avLst>
          </a:prstGeom>
          <a:solidFill>
            <a:srgbClr val="EAF3F8"/>
          </a:solidFill>
          <a:ln w="9525">
            <a:solidFill>
              <a:srgbClr val="EAF3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EC1E08-0B8B-4CBD-A28E-22256FC77F07}"/>
              </a:ext>
            </a:extLst>
          </p:cNvPr>
          <p:cNvSpPr>
            <a:spLocks noGrp="1"/>
          </p:cNvSpPr>
          <p:nvPr/>
        </p:nvSpPr>
        <p:spPr>
          <a:xfrm>
            <a:off x="990600" y="2409825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초등 영어 전체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BB94C8-9568-4AE1-9FC2-6CEE38964498}"/>
              </a:ext>
            </a:extLst>
          </p:cNvPr>
          <p:cNvSpPr>
            <a:spLocks noGrp="1"/>
          </p:cNvSpPr>
          <p:nvPr/>
        </p:nvSpPr>
        <p:spPr>
          <a:xfrm>
            <a:off x="3905250" y="2428875"/>
            <a:ext cx="7296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대상이 넓어 난이도와 답변 기준이 흔들림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6C5BB21-FC66-41A4-8870-907D3DA8441D}"/>
              </a:ext>
            </a:extLst>
          </p:cNvPr>
          <p:cNvSpPr>
            <a:spLocks noGrp="1"/>
          </p:cNvSpPr>
          <p:nvPr/>
        </p:nvSpPr>
        <p:spPr>
          <a:xfrm>
            <a:off x="1428750" y="3028950"/>
            <a:ext cx="9334500" cy="590550"/>
          </a:xfrm>
          <a:prstGeom prst="roundRect">
            <a:avLst>
              <a:gd name="adj" fmla="val 25806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1EF9D36-E3AA-4EBF-9ACA-A70B12873807}"/>
              </a:ext>
            </a:extLst>
          </p:cNvPr>
          <p:cNvSpPr>
            <a:spLocks noGrp="1"/>
          </p:cNvSpPr>
          <p:nvPr/>
        </p:nvSpPr>
        <p:spPr>
          <a:xfrm>
            <a:off x="1657350" y="3190875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초등학교 3학년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975D334-F572-4F39-A5DD-73DDCC5715ED}"/>
              </a:ext>
            </a:extLst>
          </p:cNvPr>
          <p:cNvSpPr>
            <a:spLocks noGrp="1"/>
          </p:cNvSpPr>
          <p:nvPr/>
        </p:nvSpPr>
        <p:spPr>
          <a:xfrm>
            <a:off x="4572000" y="3209925"/>
            <a:ext cx="59626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MVP 기준 학년으로 구체화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41B51AF-2EC7-4C30-876C-8454DB6EF425}"/>
              </a:ext>
            </a:extLst>
          </p:cNvPr>
          <p:cNvSpPr>
            <a:spLocks noGrp="1"/>
          </p:cNvSpPr>
          <p:nvPr/>
        </p:nvSpPr>
        <p:spPr>
          <a:xfrm>
            <a:off x="2095500" y="3810000"/>
            <a:ext cx="8001000" cy="590550"/>
          </a:xfrm>
          <a:prstGeom prst="roundRect">
            <a:avLst>
              <a:gd name="adj" fmla="val 25806"/>
            </a:avLst>
          </a:prstGeom>
          <a:solidFill>
            <a:srgbClr val="FFF7D9"/>
          </a:solidFill>
          <a:ln w="9525">
            <a:solidFill>
              <a:srgbClr val="FFF7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848A20D-6AEE-4CFB-B50D-98605E4E09AB}"/>
              </a:ext>
            </a:extLst>
          </p:cNvPr>
          <p:cNvSpPr>
            <a:spLocks noGrp="1"/>
          </p:cNvSpPr>
          <p:nvPr/>
        </p:nvSpPr>
        <p:spPr>
          <a:xfrm>
            <a:off x="2324100" y="3971925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초등 기본 어휘 후보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FC30235-C338-4E21-B68A-CBB4F2C20F8C}"/>
              </a:ext>
            </a:extLst>
          </p:cNvPr>
          <p:cNvSpPr>
            <a:spLocks noGrp="1"/>
          </p:cNvSpPr>
          <p:nvPr/>
        </p:nvSpPr>
        <p:spPr>
          <a:xfrm>
            <a:off x="5238750" y="3990975"/>
            <a:ext cx="462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공식·신뢰 가능한 후보군에서 초3 수준을 선별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BA2AD76-FB63-4B68-AF16-33A05AC2550F}"/>
              </a:ext>
            </a:extLst>
          </p:cNvPr>
          <p:cNvSpPr>
            <a:spLocks noGrp="1"/>
          </p:cNvSpPr>
          <p:nvPr/>
        </p:nvSpPr>
        <p:spPr>
          <a:xfrm>
            <a:off x="2762250" y="4591050"/>
            <a:ext cx="6667500" cy="590550"/>
          </a:xfrm>
          <a:prstGeom prst="roundRect">
            <a:avLst>
              <a:gd name="adj" fmla="val 25806"/>
            </a:avLst>
          </a:prstGeom>
          <a:solidFill>
            <a:srgbClr val="FCEDEA"/>
          </a:solidFill>
          <a:ln w="9525">
            <a:solidFill>
              <a:srgbClr val="FCED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5ECD19D-EB86-47E5-BE79-7BF6B80212C9}"/>
              </a:ext>
            </a:extLst>
          </p:cNvPr>
          <p:cNvSpPr>
            <a:spLocks noGrp="1"/>
          </p:cNvSpPr>
          <p:nvPr/>
        </p:nvSpPr>
        <p:spPr>
          <a:xfrm>
            <a:off x="2990850" y="4752975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검증된 교육 콘텐츠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12AC661-59D2-49FF-8DD7-95F47633167C}"/>
              </a:ext>
            </a:extLst>
          </p:cNvPr>
          <p:cNvSpPr>
            <a:spLocks noGrp="1"/>
          </p:cNvSpPr>
          <p:nvPr/>
        </p:nvSpPr>
        <p:spPr>
          <a:xfrm>
            <a:off x="5905500" y="4772025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단어·예문·규칙·FAQ와 출처를 구조화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626AB35-A29B-40D9-BB70-7793EEF65A19}"/>
              </a:ext>
            </a:extLst>
          </p:cNvPr>
          <p:cNvSpPr>
            <a:spLocks noGrp="1"/>
          </p:cNvSpPr>
          <p:nvPr/>
        </p:nvSpPr>
        <p:spPr>
          <a:xfrm>
            <a:off x="7524750" y="1600200"/>
            <a:ext cx="4133850" cy="47625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665A6A9-DC58-4973-ABB8-4DA33BA2FADB}"/>
              </a:ext>
            </a:extLst>
          </p:cNvPr>
          <p:cNvSpPr>
            <a:spLocks noGrp="1"/>
          </p:cNvSpPr>
          <p:nvPr/>
        </p:nvSpPr>
        <p:spPr>
          <a:xfrm>
            <a:off x="7734300" y="17335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>
                <a:solidFill>
                  <a:srgbClr val="B84A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B84A4A"/>
                </a:solidFill>
                <a:latin typeface="Noto Sans CJK KR"/>
                <a:ea typeface="Noto Sans CJK KR"/>
                <a:cs typeface="Noto Sans CJK KR"/>
              </a:rPr>
              <a:t>제외 원칙  학습 로그·오답 기록은 우선 일반 DB로 분리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934DFEB-0AC3-4F1B-A713-6B9C72B5BBE4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NIPA-Google Study Jam PBL 3기 · 2조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5E6F11B-4A1B-4498-B32D-6653FC18E2A8}"/>
              </a:ext>
            </a:extLst>
          </p:cNvPr>
          <p:cNvSpPr>
            <a:spLocks noGrp="1"/>
          </p:cNvSpPr>
          <p:nvPr/>
        </p:nvSpPr>
        <p:spPr>
          <a:xfrm>
            <a:off x="10763250" y="6515100"/>
            <a:ext cx="8953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4750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321D88C-7DB8-4461-8E53-D973B5393069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809750" cy="304800"/>
          </a:xfrm>
          <a:prstGeom prst="roundRect">
            <a:avLst>
              <a:gd name="adj" fmla="val 50000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04  RAG 담당 수행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5931A84-EEF1-4995-8CA1-FB6CC61D7DA3}"/>
              </a:ext>
            </a:extLst>
          </p:cNvPr>
          <p:cNvSpPr>
            <a:spLocks noGrp="1"/>
          </p:cNvSpPr>
          <p:nvPr/>
        </p:nvSpPr>
        <p:spPr>
          <a:xfrm>
            <a:off x="533400" y="8191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RAG 데이터 파이프라인 설계 — Original → Curated → Enriched → Chunk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7351F1D0-D9F8-43E2-B423-246FC1F10EC3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11125200" cy="0"/>
          </a:xfrm>
          <a:prstGeom prst="line">
            <a:avLst/>
          </a:prstGeom>
          <a:noFill/>
          <a:ln w="9525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8B5ACFA-18EE-4D4F-B24D-F09EB86CF6CC}"/>
              </a:ext>
            </a:extLst>
          </p:cNvPr>
          <p:cNvSpPr>
            <a:spLocks noGrp="1"/>
          </p:cNvSpPr>
          <p:nvPr/>
        </p:nvSpPr>
        <p:spPr>
          <a:xfrm>
            <a:off x="552450" y="2047875"/>
            <a:ext cx="2324100" cy="2524125"/>
          </a:xfrm>
          <a:prstGeom prst="roundRect">
            <a:avLst>
              <a:gd name="adj" fmla="val 8197"/>
            </a:avLst>
          </a:prstGeom>
          <a:solidFill>
            <a:srgbClr val="EAF3F8"/>
          </a:solidFill>
          <a:ln w="9525">
            <a:solidFill>
              <a:srgbClr val="EAF3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CCC82BD-DF76-4357-B72D-FC7A1E8FE899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990600" cy="3048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 w="9525">
            <a:solidFill>
              <a:srgbClr val="EAF3F8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rPr>
              <a:t>ORIGINAL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BFD928-59C3-4668-800E-D2BEB1FB70E2}"/>
              </a:ext>
            </a:extLst>
          </p:cNvPr>
          <p:cNvSpPr>
            <a:spLocks noGrp="1"/>
          </p:cNvSpPr>
          <p:nvPr/>
        </p:nvSpPr>
        <p:spPr>
          <a:xfrm>
            <a:off x="762000" y="2762250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원본 확보</a:t>
            </a:r>
          </a:p>
        </p:txBody>
      </p:sp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4E9B0A03-DC28-4669-828C-5BE841ED1B0F}"/>
              </a:ext>
            </a:extLst>
          </p:cNvPr>
          <p:cNvSpPr>
            <a:spLocks noGrp="1"/>
          </p:cNvSpPr>
          <p:nvPr/>
        </p:nvSpPr>
        <p:spPr>
          <a:xfrm>
            <a:off x="762000" y="3190875"/>
            <a:ext cx="1905000" cy="0"/>
          </a:xfrm>
          <a:prstGeom prst="line">
            <a:avLst/>
          </a:prstGeom>
          <a:noFill/>
          <a:ln w="28575">
            <a:solidFill>
              <a:srgbClr val="4DAE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CA5F259-FE49-40FE-A791-EA3814396DC7}"/>
              </a:ext>
            </a:extLst>
          </p:cNvPr>
          <p:cNvSpPr>
            <a:spLocks noGrp="1"/>
          </p:cNvSpPr>
          <p:nvPr/>
        </p:nvSpPr>
        <p:spPr>
          <a:xfrm>
            <a:off x="762000" y="3429000"/>
            <a:ext cx="190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어휘·교재·기준안</a:t>
            </a:r>
          </a:p>
          <a:p>
            <a:pPr algn="ctr">
              <a:lnSpc>
                <a:spcPct val="105000"/>
              </a:lnSpc>
              <a:buNone/>
              <a:def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출처와 원형 보존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81AAF2D-67A7-4320-A460-16316C2D08D3}"/>
              </a:ext>
            </a:extLst>
          </p:cNvPr>
          <p:cNvSpPr>
            <a:spLocks noGrp="1"/>
          </p:cNvSpPr>
          <p:nvPr/>
        </p:nvSpPr>
        <p:spPr>
          <a:xfrm>
            <a:off x="2324100" y="419100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3CD27F9-F1D8-4A21-9AFA-4A1BEEC00256}"/>
              </a:ext>
            </a:extLst>
          </p:cNvPr>
          <p:cNvSpPr>
            <a:spLocks noGrp="1"/>
          </p:cNvSpPr>
          <p:nvPr/>
        </p:nvSpPr>
        <p:spPr>
          <a:xfrm>
            <a:off x="2952750" y="3048000"/>
            <a:ext cx="285750" cy="457200"/>
          </a:xfrm>
          <a:prstGeom prst="rightArrow">
            <a:avLst/>
          </a:prstGeom>
          <a:solidFill>
            <a:srgbClr val="D6E2E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7BA3A2C-0AAF-429B-9849-CE5C5B90C203}"/>
              </a:ext>
            </a:extLst>
          </p:cNvPr>
          <p:cNvSpPr>
            <a:spLocks noGrp="1"/>
          </p:cNvSpPr>
          <p:nvPr/>
        </p:nvSpPr>
        <p:spPr>
          <a:xfrm>
            <a:off x="3314700" y="2047875"/>
            <a:ext cx="2324100" cy="2524125"/>
          </a:xfrm>
          <a:prstGeom prst="roundRect">
            <a:avLst>
              <a:gd name="adj" fmla="val 8197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C58A51F-CEF7-4AF5-9101-E205753A4C11}"/>
              </a:ext>
            </a:extLst>
          </p:cNvPr>
          <p:cNvSpPr>
            <a:spLocks noGrp="1"/>
          </p:cNvSpPr>
          <p:nvPr/>
        </p:nvSpPr>
        <p:spPr>
          <a:xfrm>
            <a:off x="3524250" y="2238375"/>
            <a:ext cx="990600" cy="304800"/>
          </a:xfrm>
          <a:prstGeom prst="roundRect">
            <a:avLst>
              <a:gd name="adj" fmla="val 50000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CURATED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DDBB6A7-3DA8-4AD9-BE55-0A69207F4486}"/>
              </a:ext>
            </a:extLst>
          </p:cNvPr>
          <p:cNvSpPr>
            <a:spLocks noGrp="1"/>
          </p:cNvSpPr>
          <p:nvPr/>
        </p:nvSpPr>
        <p:spPr>
          <a:xfrm>
            <a:off x="3524250" y="2762250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정제·확정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53AA7B83-98D3-484E-AA4D-930070D4F02B}"/>
              </a:ext>
            </a:extLst>
          </p:cNvPr>
          <p:cNvSpPr>
            <a:spLocks noGrp="1"/>
          </p:cNvSpPr>
          <p:nvPr/>
        </p:nvSpPr>
        <p:spPr>
          <a:xfrm>
            <a:off x="3524250" y="3190875"/>
            <a:ext cx="1905000" cy="0"/>
          </a:xfrm>
          <a:prstGeom prst="line">
            <a:avLst/>
          </a:prstGeom>
          <a:noFill/>
          <a:ln w="28575">
            <a:solidFill>
              <a:srgbClr val="16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A360627-004A-4588-AC1B-C2BD8C6ED3CB}"/>
              </a:ext>
            </a:extLst>
          </p:cNvPr>
          <p:cNvSpPr>
            <a:spLocks noGrp="1"/>
          </p:cNvSpPr>
          <p:nvPr/>
        </p:nvSpPr>
        <p:spPr>
          <a:xfrm>
            <a:off x="3524250" y="3429000"/>
            <a:ext cx="190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중복·오류 제거</a:t>
            </a:r>
          </a:p>
          <a:p>
            <a:pPr algn="ctr">
              <a:lnSpc>
                <a:spcPct val="105000"/>
              </a:lnSpc>
              <a:buNone/>
              <a:def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초3 범위와 allowlist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459C32A-B983-4E71-A868-629A5179AEF3}"/>
              </a:ext>
            </a:extLst>
          </p:cNvPr>
          <p:cNvSpPr>
            <a:spLocks noGrp="1"/>
          </p:cNvSpPr>
          <p:nvPr/>
        </p:nvSpPr>
        <p:spPr>
          <a:xfrm>
            <a:off x="5086350" y="419100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0051E83E-882D-4524-B93A-481C71042733}"/>
              </a:ext>
            </a:extLst>
          </p:cNvPr>
          <p:cNvSpPr>
            <a:spLocks noGrp="1"/>
          </p:cNvSpPr>
          <p:nvPr/>
        </p:nvSpPr>
        <p:spPr>
          <a:xfrm>
            <a:off x="5715000" y="3048000"/>
            <a:ext cx="285750" cy="457200"/>
          </a:xfrm>
          <a:prstGeom prst="rightArrow">
            <a:avLst/>
          </a:prstGeom>
          <a:solidFill>
            <a:srgbClr val="D6E2E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8F47D0D-9ACC-4972-82D4-C2F1DAEA56B5}"/>
              </a:ext>
            </a:extLst>
          </p:cNvPr>
          <p:cNvSpPr>
            <a:spLocks noGrp="1"/>
          </p:cNvSpPr>
          <p:nvPr/>
        </p:nvSpPr>
        <p:spPr>
          <a:xfrm>
            <a:off x="6076950" y="2047875"/>
            <a:ext cx="2324100" cy="2524125"/>
          </a:xfrm>
          <a:prstGeom prst="roundRect">
            <a:avLst>
              <a:gd name="adj" fmla="val 8197"/>
            </a:avLst>
          </a:prstGeom>
          <a:solidFill>
            <a:srgbClr val="FFF7D9"/>
          </a:solidFill>
          <a:ln w="9525">
            <a:solidFill>
              <a:srgbClr val="FFF7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2FAC69A-353D-4C08-81B5-7B29554D3618}"/>
              </a:ext>
            </a:extLst>
          </p:cNvPr>
          <p:cNvSpPr>
            <a:spLocks noGrp="1"/>
          </p:cNvSpPr>
          <p:nvPr/>
        </p:nvSpPr>
        <p:spPr>
          <a:xfrm>
            <a:off x="6286500" y="2238375"/>
            <a:ext cx="990600" cy="304800"/>
          </a:xfrm>
          <a:prstGeom prst="roundRect">
            <a:avLst>
              <a:gd name="adj" fmla="val 50000"/>
            </a:avLst>
          </a:prstGeom>
          <a:solidFill>
            <a:srgbClr val="FFF7D9"/>
          </a:solidFill>
          <a:ln w="9525">
            <a:solidFill>
              <a:srgbClr val="FFF7D9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E9B94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E9B949"/>
                </a:solidFill>
                <a:latin typeface="Noto Sans CJK KR"/>
                <a:ea typeface="Noto Sans CJK KR"/>
                <a:cs typeface="Noto Sans CJK KR"/>
              </a:rPr>
              <a:t>ENRICHED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C094433-97E4-42A5-9B03-63281F7693BB}"/>
              </a:ext>
            </a:extLst>
          </p:cNvPr>
          <p:cNvSpPr>
            <a:spLocks noGrp="1"/>
          </p:cNvSpPr>
          <p:nvPr/>
        </p:nvSpPr>
        <p:spPr>
          <a:xfrm>
            <a:off x="6286500" y="2762250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교육 정보 보강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589D35C6-CDA8-4EE0-824D-C0A534D86104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1905000" cy="0"/>
          </a:xfrm>
          <a:prstGeom prst="line">
            <a:avLst/>
          </a:prstGeom>
          <a:noFill/>
          <a:ln w="28575">
            <a:solidFill>
              <a:srgbClr val="E9B9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371EB99-7114-48DF-81F0-0BA4760DC071}"/>
              </a:ext>
            </a:extLst>
          </p:cNvPr>
          <p:cNvSpPr>
            <a:spLocks noGrp="1"/>
          </p:cNvSpPr>
          <p:nvPr/>
        </p:nvSpPr>
        <p:spPr>
          <a:xfrm>
            <a:off x="6286500" y="3429000"/>
            <a:ext cx="190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예문·난이도·단원</a:t>
            </a:r>
          </a:p>
          <a:p>
            <a:pPr algn="ctr">
              <a:lnSpc>
                <a:spcPct val="105000"/>
              </a:lnSpc>
              <a:buNone/>
              <a:def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근거와 메타데이터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BCA4ACA-2141-486F-8918-8377295FF09A}"/>
              </a:ext>
            </a:extLst>
          </p:cNvPr>
          <p:cNvSpPr>
            <a:spLocks noGrp="1"/>
          </p:cNvSpPr>
          <p:nvPr/>
        </p:nvSpPr>
        <p:spPr>
          <a:xfrm>
            <a:off x="7848600" y="419100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E9B94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E9B949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4E00043E-1EC4-46C3-B4C3-89714CC33EF1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85750" cy="457200"/>
          </a:xfrm>
          <a:prstGeom prst="rightArrow">
            <a:avLst/>
          </a:prstGeom>
          <a:solidFill>
            <a:srgbClr val="D6E2E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70D281A-139E-4357-8703-84D9E2807E08}"/>
              </a:ext>
            </a:extLst>
          </p:cNvPr>
          <p:cNvSpPr>
            <a:spLocks noGrp="1"/>
          </p:cNvSpPr>
          <p:nvPr/>
        </p:nvSpPr>
        <p:spPr>
          <a:xfrm>
            <a:off x="8839200" y="2047875"/>
            <a:ext cx="2324100" cy="2524125"/>
          </a:xfrm>
          <a:prstGeom prst="roundRect">
            <a:avLst>
              <a:gd name="adj" fmla="val 8197"/>
            </a:avLst>
          </a:prstGeom>
          <a:solidFill>
            <a:srgbClr val="FCEDEA"/>
          </a:solidFill>
          <a:ln w="9525">
            <a:solidFill>
              <a:srgbClr val="FCED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496EFFA-6AF7-4726-BE3D-63D7132CFCA5}"/>
              </a:ext>
            </a:extLst>
          </p:cNvPr>
          <p:cNvSpPr>
            <a:spLocks noGrp="1"/>
          </p:cNvSpPr>
          <p:nvPr/>
        </p:nvSpPr>
        <p:spPr>
          <a:xfrm>
            <a:off x="9048750" y="2238375"/>
            <a:ext cx="990600" cy="304800"/>
          </a:xfrm>
          <a:prstGeom prst="roundRect">
            <a:avLst>
              <a:gd name="adj" fmla="val 50000"/>
            </a:avLst>
          </a:prstGeom>
          <a:solidFill>
            <a:srgbClr val="FCEDEA"/>
          </a:solidFill>
          <a:ln w="9525">
            <a:solidFill>
              <a:srgbClr val="FCEDEA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F27A6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F27A65"/>
                </a:solidFill>
                <a:latin typeface="Noto Sans CJK KR"/>
                <a:ea typeface="Noto Sans CJK KR"/>
                <a:cs typeface="Noto Sans CJK KR"/>
              </a:rPr>
              <a:t>CHUNK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4927FAB-3E58-42D6-A45D-4465362CE123}"/>
              </a:ext>
            </a:extLst>
          </p:cNvPr>
          <p:cNvSpPr>
            <a:spLocks noGrp="1"/>
          </p:cNvSpPr>
          <p:nvPr/>
        </p:nvSpPr>
        <p:spPr>
          <a:xfrm>
            <a:off x="9048750" y="2762250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검색 단위 구성</a:t>
            </a:r>
          </a:p>
        </p:txBody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1F568426-1A27-4AAF-9548-4290A47934C4}"/>
              </a:ext>
            </a:extLst>
          </p:cNvPr>
          <p:cNvSpPr>
            <a:spLocks noGrp="1"/>
          </p:cNvSpPr>
          <p:nvPr/>
        </p:nvSpPr>
        <p:spPr>
          <a:xfrm>
            <a:off x="9048750" y="3190875"/>
            <a:ext cx="1905000" cy="0"/>
          </a:xfrm>
          <a:prstGeom prst="line">
            <a:avLst/>
          </a:prstGeom>
          <a:noFill/>
          <a:ln w="28575">
            <a:solidFill>
              <a:srgbClr val="F27A6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CCE1308-5B91-46DE-83A6-056504D1C87A}"/>
              </a:ext>
            </a:extLst>
          </p:cNvPr>
          <p:cNvSpPr>
            <a:spLocks noGrp="1"/>
          </p:cNvSpPr>
          <p:nvPr/>
        </p:nvSpPr>
        <p:spPr>
          <a:xfrm>
            <a:off x="9048750" y="3429000"/>
            <a:ext cx="190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의미 단위 분리</a:t>
            </a:r>
          </a:p>
          <a:p>
            <a:pPr algn="ctr">
              <a:lnSpc>
                <a:spcPct val="105000"/>
              </a:lnSpc>
              <a:buNone/>
              <a:def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source_id로 추적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CF3F1CB-3531-416B-B6B8-4154A1B5DE5F}"/>
              </a:ext>
            </a:extLst>
          </p:cNvPr>
          <p:cNvSpPr>
            <a:spLocks noGrp="1"/>
          </p:cNvSpPr>
          <p:nvPr/>
        </p:nvSpPr>
        <p:spPr>
          <a:xfrm>
            <a:off x="10610850" y="419100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F27A6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27A65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9366884-EDD5-47FF-9D29-ABA071BD5D53}"/>
              </a:ext>
            </a:extLst>
          </p:cNvPr>
          <p:cNvSpPr>
            <a:spLocks noGrp="1"/>
          </p:cNvSpPr>
          <p:nvPr/>
        </p:nvSpPr>
        <p:spPr>
          <a:xfrm>
            <a:off x="1333500" y="5048250"/>
            <a:ext cx="9525000" cy="838200"/>
          </a:xfrm>
          <a:prstGeom prst="roundRect">
            <a:avLst>
              <a:gd name="adj" fmla="val 20455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7C256A6-F41B-4A6C-BC78-9CA3B853D66C}"/>
              </a:ext>
            </a:extLst>
          </p:cNvPr>
          <p:cNvSpPr>
            <a:spLocks noGrp="1"/>
          </p:cNvSpPr>
          <p:nvPr/>
        </p:nvSpPr>
        <p:spPr>
          <a:xfrm>
            <a:off x="1600200" y="5238750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8CE0D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8CE0D5"/>
                </a:solidFill>
                <a:latin typeface="Noto Sans CJK KR"/>
                <a:ea typeface="Noto Sans CJK KR"/>
                <a:cs typeface="Noto Sans CJK KR"/>
              </a:rPr>
              <a:t>설계 원칙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D10A7A6-E270-4B49-A99D-52E06D23C702}"/>
              </a:ext>
            </a:extLst>
          </p:cNvPr>
          <p:cNvSpPr>
            <a:spLocks noGrp="1"/>
          </p:cNvSpPr>
          <p:nvPr/>
        </p:nvSpPr>
        <p:spPr>
          <a:xfrm>
            <a:off x="2952750" y="5162550"/>
            <a:ext cx="7524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원본은 보존하고, 변환 단계마다 파일·버전·검수 상태를 남겨 수정 전후를 재현한다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F627ABD-37DB-4E58-ACB9-C190D530655F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NIPA-Google Study Jam PBL 3기 · 2조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33A96AC-6A92-4E4D-A349-B1504EB4C20C}"/>
              </a:ext>
            </a:extLst>
          </p:cNvPr>
          <p:cNvSpPr>
            <a:spLocks noGrp="1"/>
          </p:cNvSpPr>
          <p:nvPr/>
        </p:nvSpPr>
        <p:spPr>
          <a:xfrm>
            <a:off x="10763250" y="6515100"/>
            <a:ext cx="8953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4310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AC6326E-00EB-45E9-B585-4E550201D16E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809750" cy="304800"/>
          </a:xfrm>
          <a:prstGeom prst="roundRect">
            <a:avLst>
              <a:gd name="adj" fmla="val 50000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05  RAG 담당 수행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111181-A8FE-476B-9B1C-5C5E3B1D29AC}"/>
              </a:ext>
            </a:extLst>
          </p:cNvPr>
          <p:cNvSpPr>
            <a:spLocks noGrp="1"/>
          </p:cNvSpPr>
          <p:nvPr/>
        </p:nvSpPr>
        <p:spPr>
          <a:xfrm>
            <a:off x="533400" y="8191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데이터팀 협업 및 데이터 품질 검증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E0DCD89-23D0-4D73-8EC9-B464DCC90C87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11125200" cy="0"/>
          </a:xfrm>
          <a:prstGeom prst="line">
            <a:avLst/>
          </a:prstGeom>
          <a:noFill/>
          <a:ln w="9525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F566763-8035-4638-B0B2-8A9BC7F38135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3429000" cy="3352800"/>
          </a:xfrm>
          <a:prstGeom prst="roundRect">
            <a:avLst>
              <a:gd name="adj" fmla="val 5682"/>
            </a:avLst>
          </a:prstGeom>
          <a:solidFill>
            <a:srgbClr val="EAF3F8"/>
          </a:solidFill>
          <a:ln w="9525">
            <a:solidFill>
              <a:srgbClr val="EAF3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22BD0A5-D444-4B78-90BA-231D618AA85D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 w="9525">
            <a:solidFill>
              <a:srgbClr val="EAF3F8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rPr>
              <a:t>WORK 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032089-220B-4C4E-948B-F8B33B7A7B6E}"/>
              </a:ext>
            </a:extLst>
          </p:cNvPr>
          <p:cNvSpPr>
            <a:spLocks noGrp="1"/>
          </p:cNvSpPr>
          <p:nvPr/>
        </p:nvSpPr>
        <p:spPr>
          <a:xfrm>
            <a:off x="742950" y="2514600"/>
            <a:ext cx="3009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컬럼 정의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1B95EA-9D75-43FA-B36B-3A03D921E8F6}"/>
              </a:ext>
            </a:extLst>
          </p:cNvPr>
          <p:cNvSpPr>
            <a:spLocks noGrp="1"/>
          </p:cNvSpPr>
          <p:nvPr/>
        </p:nvSpPr>
        <p:spPr>
          <a:xfrm>
            <a:off x="742950" y="2895600"/>
            <a:ext cx="3009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rPr>
              <a:t>같은 구조로 대화</a:t>
            </a:r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EAB9D8F9-5894-4555-AA66-1BC4A0AE363D}"/>
              </a:ext>
            </a:extLst>
          </p:cNvPr>
          <p:cNvSpPr>
            <a:spLocks noGrp="1"/>
          </p:cNvSpPr>
          <p:nvPr/>
        </p:nvSpPr>
        <p:spPr>
          <a:xfrm>
            <a:off x="762000" y="3476625"/>
            <a:ext cx="152400" cy="0"/>
          </a:xfrm>
          <a:prstGeom prst="line">
            <a:avLst/>
          </a:prstGeom>
          <a:noFill/>
          <a:ln w="38100">
            <a:solidFill>
              <a:srgbClr val="4DAE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98628F1-345C-4029-96E0-744ADAE62A9D}"/>
              </a:ext>
            </a:extLst>
          </p:cNvPr>
          <p:cNvSpPr>
            <a:spLocks noGrp="1"/>
          </p:cNvSpPr>
          <p:nvPr/>
        </p:nvSpPr>
        <p:spPr>
          <a:xfrm>
            <a:off x="1028700" y="333375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word·meaning·example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BE1F6E41-934D-44FD-8817-FC26DEFE5339}"/>
              </a:ext>
            </a:extLst>
          </p:cNvPr>
          <p:cNvSpPr>
            <a:spLocks noGrp="1"/>
          </p:cNvSpPr>
          <p:nvPr/>
        </p:nvSpPr>
        <p:spPr>
          <a:xfrm>
            <a:off x="762000" y="3990975"/>
            <a:ext cx="152400" cy="0"/>
          </a:xfrm>
          <a:prstGeom prst="line">
            <a:avLst/>
          </a:prstGeom>
          <a:noFill/>
          <a:ln w="38100">
            <a:solidFill>
              <a:srgbClr val="4DAE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D956588-905F-4F69-846F-68A5AFE97365}"/>
              </a:ext>
            </a:extLst>
          </p:cNvPr>
          <p:cNvSpPr>
            <a:spLocks noGrp="1"/>
          </p:cNvSpPr>
          <p:nvPr/>
        </p:nvSpPr>
        <p:spPr>
          <a:xfrm>
            <a:off x="1028700" y="38481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grade·unit·category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E8814219-F1B7-44CF-BAB7-6103801DC97F}"/>
              </a:ext>
            </a:extLst>
          </p:cNvPr>
          <p:cNvSpPr>
            <a:spLocks noGrp="1"/>
          </p:cNvSpPr>
          <p:nvPr/>
        </p:nvSpPr>
        <p:spPr>
          <a:xfrm>
            <a:off x="762000" y="4505325"/>
            <a:ext cx="152400" cy="0"/>
          </a:xfrm>
          <a:prstGeom prst="line">
            <a:avLst/>
          </a:prstGeom>
          <a:noFill/>
          <a:ln w="38100">
            <a:solidFill>
              <a:srgbClr val="4DAE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F44DBF-E299-4BD6-8F23-E73513368FD9}"/>
              </a:ext>
            </a:extLst>
          </p:cNvPr>
          <p:cNvSpPr>
            <a:spLocks noGrp="1"/>
          </p:cNvSpPr>
          <p:nvPr/>
        </p:nvSpPr>
        <p:spPr>
          <a:xfrm>
            <a:off x="1028700" y="436245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source_id·status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E005A11-34EE-4AFE-B75F-44F38D1B90CC}"/>
              </a:ext>
            </a:extLst>
          </p:cNvPr>
          <p:cNvSpPr>
            <a:spLocks noGrp="1"/>
          </p:cNvSpPr>
          <p:nvPr/>
        </p:nvSpPr>
        <p:spPr>
          <a:xfrm>
            <a:off x="4286250" y="1885950"/>
            <a:ext cx="3429000" cy="3352800"/>
          </a:xfrm>
          <a:prstGeom prst="roundRect">
            <a:avLst>
              <a:gd name="adj" fmla="val 5682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1E300E7-2822-47BD-8C06-3417B4F2A05F}"/>
              </a:ext>
            </a:extLst>
          </p:cNvPr>
          <p:cNvSpPr>
            <a:spLocks noGrp="1"/>
          </p:cNvSpPr>
          <p:nvPr/>
        </p:nvSpPr>
        <p:spPr>
          <a:xfrm>
            <a:off x="4495800" y="2076450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WORK 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0EFC94-8113-4E82-8160-42C405867775}"/>
              </a:ext>
            </a:extLst>
          </p:cNvPr>
          <p:cNvSpPr>
            <a:spLocks noGrp="1"/>
          </p:cNvSpPr>
          <p:nvPr/>
        </p:nvSpPr>
        <p:spPr>
          <a:xfrm>
            <a:off x="4495800" y="2514600"/>
            <a:ext cx="3009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Allowlist 검토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910483-B664-4500-8928-0335B9884239}"/>
              </a:ext>
            </a:extLst>
          </p:cNvPr>
          <p:cNvSpPr>
            <a:spLocks noGrp="1"/>
          </p:cNvSpPr>
          <p:nvPr/>
        </p:nvSpPr>
        <p:spPr>
          <a:xfrm>
            <a:off x="4495800" y="2895600"/>
            <a:ext cx="3009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확정과 협의 분리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EC22B815-6A97-4D20-AABB-756CD49FA506}"/>
              </a:ext>
            </a:extLst>
          </p:cNvPr>
          <p:cNvSpPr>
            <a:spLocks noGrp="1"/>
          </p:cNvSpPr>
          <p:nvPr/>
        </p:nvSpPr>
        <p:spPr>
          <a:xfrm>
            <a:off x="4514850" y="3476625"/>
            <a:ext cx="152400" cy="0"/>
          </a:xfrm>
          <a:prstGeom prst="line">
            <a:avLst/>
          </a:prstGeom>
          <a:noFill/>
          <a:ln w="38100">
            <a:solidFill>
              <a:srgbClr val="16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E6811F8-BF52-4208-BA6C-9586C054C3C0}"/>
              </a:ext>
            </a:extLst>
          </p:cNvPr>
          <p:cNvSpPr>
            <a:spLocks noGrp="1"/>
          </p:cNvSpPr>
          <p:nvPr/>
        </p:nvSpPr>
        <p:spPr>
          <a:xfrm>
            <a:off x="4781550" y="333375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원본 시트 보존</a:t>
            </a:r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05C10D2D-BC62-49C2-821E-B60B49A91308}"/>
              </a:ext>
            </a:extLst>
          </p:cNvPr>
          <p:cNvSpPr>
            <a:spLocks noGrp="1"/>
          </p:cNvSpPr>
          <p:nvPr/>
        </p:nvSpPr>
        <p:spPr>
          <a:xfrm>
            <a:off x="4514850" y="3990975"/>
            <a:ext cx="152400" cy="0"/>
          </a:xfrm>
          <a:prstGeom prst="line">
            <a:avLst/>
          </a:prstGeom>
          <a:noFill/>
          <a:ln w="38100">
            <a:solidFill>
              <a:srgbClr val="16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1B135B6-1439-4F0C-A882-F375022726E9}"/>
              </a:ext>
            </a:extLst>
          </p:cNvPr>
          <p:cNvSpPr>
            <a:spLocks noGrp="1"/>
          </p:cNvSpPr>
          <p:nvPr/>
        </p:nvSpPr>
        <p:spPr>
          <a:xfrm>
            <a:off x="4781550" y="38481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반영 결과 시트 추가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697FF087-5A65-4448-80F5-E51EF5C2E089}"/>
              </a:ext>
            </a:extLst>
          </p:cNvPr>
          <p:cNvSpPr>
            <a:spLocks noGrp="1"/>
          </p:cNvSpPr>
          <p:nvPr/>
        </p:nvSpPr>
        <p:spPr>
          <a:xfrm>
            <a:off x="4514850" y="4505325"/>
            <a:ext cx="152400" cy="0"/>
          </a:xfrm>
          <a:prstGeom prst="line">
            <a:avLst/>
          </a:prstGeom>
          <a:noFill/>
          <a:ln w="38100">
            <a:solidFill>
              <a:srgbClr val="16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03E35DD-167D-4B70-BB7B-AAE5F906DB54}"/>
              </a:ext>
            </a:extLst>
          </p:cNvPr>
          <p:cNvSpPr>
            <a:spLocks noGrp="1"/>
          </p:cNvSpPr>
          <p:nvPr/>
        </p:nvSpPr>
        <p:spPr>
          <a:xfrm>
            <a:off x="4781550" y="436245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미확정 대상만 협의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8885998-2369-4947-AFB2-8B99DECA9C42}"/>
              </a:ext>
            </a:extLst>
          </p:cNvPr>
          <p:cNvSpPr>
            <a:spLocks noGrp="1"/>
          </p:cNvSpPr>
          <p:nvPr/>
        </p:nvSpPr>
        <p:spPr>
          <a:xfrm>
            <a:off x="8039100" y="1885950"/>
            <a:ext cx="3429000" cy="3352800"/>
          </a:xfrm>
          <a:prstGeom prst="roundRect">
            <a:avLst>
              <a:gd name="adj" fmla="val 5682"/>
            </a:avLst>
          </a:prstGeom>
          <a:solidFill>
            <a:srgbClr val="FCEDEA"/>
          </a:solidFill>
          <a:ln w="9525">
            <a:solidFill>
              <a:srgbClr val="FCED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00B26DE-82B3-4847-88AC-712872A78CAA}"/>
              </a:ext>
            </a:extLst>
          </p:cNvPr>
          <p:cNvSpPr>
            <a:spLocks noGrp="1"/>
          </p:cNvSpPr>
          <p:nvPr/>
        </p:nvSpPr>
        <p:spPr>
          <a:xfrm>
            <a:off x="8248650" y="2076450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FCEDEA"/>
          </a:solidFill>
          <a:ln w="9525">
            <a:solidFill>
              <a:srgbClr val="FCEDEA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F27A6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F27A65"/>
                </a:solidFill>
                <a:latin typeface="Noto Sans CJK KR"/>
                <a:ea typeface="Noto Sans CJK KR"/>
                <a:cs typeface="Noto Sans CJK KR"/>
              </a:rPr>
              <a:t>WORK 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499DA63-FC78-4FEB-9ABF-67DC2AEAB747}"/>
              </a:ext>
            </a:extLst>
          </p:cNvPr>
          <p:cNvSpPr>
            <a:spLocks noGrp="1"/>
          </p:cNvSpPr>
          <p:nvPr/>
        </p:nvSpPr>
        <p:spPr>
          <a:xfrm>
            <a:off x="8248650" y="2514600"/>
            <a:ext cx="3009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불일치·오류 정리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A18D1D5-528E-4E61-8909-0E227E62C947}"/>
              </a:ext>
            </a:extLst>
          </p:cNvPr>
          <p:cNvSpPr>
            <a:spLocks noGrp="1"/>
          </p:cNvSpPr>
          <p:nvPr/>
        </p:nvSpPr>
        <p:spPr>
          <a:xfrm>
            <a:off x="8248650" y="2895600"/>
            <a:ext cx="3009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27A6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27A65"/>
                </a:solidFill>
                <a:latin typeface="Noto Sans CJK KR"/>
                <a:ea typeface="Noto Sans CJK KR"/>
                <a:cs typeface="Noto Sans CJK KR"/>
              </a:rPr>
              <a:t>수정 근거를 기록</a:t>
            </a:r>
          </a:p>
        </p:txBody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3091AF6F-A700-47B2-9323-BFBFFB9DF941}"/>
              </a:ext>
            </a:extLst>
          </p:cNvPr>
          <p:cNvSpPr>
            <a:spLocks noGrp="1"/>
          </p:cNvSpPr>
          <p:nvPr/>
        </p:nvSpPr>
        <p:spPr>
          <a:xfrm>
            <a:off x="8267700" y="3476625"/>
            <a:ext cx="152400" cy="0"/>
          </a:xfrm>
          <a:prstGeom prst="line">
            <a:avLst/>
          </a:prstGeom>
          <a:noFill/>
          <a:ln w="38100">
            <a:solidFill>
              <a:srgbClr val="F27A6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C6CED13-A7B2-4867-BFFA-420FDD0A0F12}"/>
              </a:ext>
            </a:extLst>
          </p:cNvPr>
          <p:cNvSpPr>
            <a:spLocks noGrp="1"/>
          </p:cNvSpPr>
          <p:nvPr/>
        </p:nvSpPr>
        <p:spPr>
          <a:xfrm>
            <a:off x="8534400" y="333375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원본과 정제본 비교</a:t>
            </a: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3FC6029C-F49C-4905-898D-AECCE48F6074}"/>
              </a:ext>
            </a:extLst>
          </p:cNvPr>
          <p:cNvSpPr>
            <a:spLocks noGrp="1"/>
          </p:cNvSpPr>
          <p:nvPr/>
        </p:nvSpPr>
        <p:spPr>
          <a:xfrm>
            <a:off x="8267700" y="3990975"/>
            <a:ext cx="152400" cy="0"/>
          </a:xfrm>
          <a:prstGeom prst="line">
            <a:avLst/>
          </a:prstGeom>
          <a:noFill/>
          <a:ln w="38100">
            <a:solidFill>
              <a:srgbClr val="F27A6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CAAB640-240D-410D-97C6-7940464D9E8D}"/>
              </a:ext>
            </a:extLst>
          </p:cNvPr>
          <p:cNvSpPr>
            <a:spLocks noGrp="1"/>
          </p:cNvSpPr>
          <p:nvPr/>
        </p:nvSpPr>
        <p:spPr>
          <a:xfrm>
            <a:off x="8534400" y="38481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필수 수정·검토 구분</a:t>
            </a:r>
          </a:p>
        </p:txBody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C18D32C6-DA69-47E0-B810-6FB08DE25226}"/>
              </a:ext>
            </a:extLst>
          </p:cNvPr>
          <p:cNvSpPr>
            <a:spLocks noGrp="1"/>
          </p:cNvSpPr>
          <p:nvPr/>
        </p:nvSpPr>
        <p:spPr>
          <a:xfrm>
            <a:off x="8267700" y="4505325"/>
            <a:ext cx="152400" cy="0"/>
          </a:xfrm>
          <a:prstGeom prst="line">
            <a:avLst/>
          </a:prstGeom>
          <a:noFill/>
          <a:ln w="38100">
            <a:solidFill>
              <a:srgbClr val="F27A6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7A77657-0B84-4620-9B12-B6DC312E7A58}"/>
              </a:ext>
            </a:extLst>
          </p:cNvPr>
          <p:cNvSpPr>
            <a:spLocks noGrp="1"/>
          </p:cNvSpPr>
          <p:nvPr/>
        </p:nvSpPr>
        <p:spPr>
          <a:xfrm>
            <a:off x="8534400" y="436245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작업지시서로 재현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4240C05-0BC1-48C0-B6F4-9A8CFFEA4C31}"/>
              </a:ext>
            </a:extLst>
          </p:cNvPr>
          <p:cNvSpPr>
            <a:spLocks noGrp="1"/>
          </p:cNvSpPr>
          <p:nvPr/>
        </p:nvSpPr>
        <p:spPr>
          <a:xfrm>
            <a:off x="1428750" y="5543550"/>
            <a:ext cx="9334500" cy="523875"/>
          </a:xfrm>
          <a:prstGeom prst="roundRect">
            <a:avLst>
              <a:gd name="adj" fmla="val 25455"/>
            </a:avLst>
          </a:prstGeom>
          <a:solidFill>
            <a:srgbClr val="FFFFFF"/>
          </a:solidFill>
          <a:ln w="9525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D71D4DC-4172-4EE1-9978-D952BE614175}"/>
              </a:ext>
            </a:extLst>
          </p:cNvPr>
          <p:cNvSpPr>
            <a:spLocks noGrp="1"/>
          </p:cNvSpPr>
          <p:nvPr/>
        </p:nvSpPr>
        <p:spPr>
          <a:xfrm>
            <a:off x="1657350" y="569595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협업 결과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20D6DCD-93B4-45D5-A197-4CFF8DBFF96D}"/>
              </a:ext>
            </a:extLst>
          </p:cNvPr>
          <p:cNvSpPr>
            <a:spLocks noGrp="1"/>
          </p:cNvSpPr>
          <p:nvPr/>
        </p:nvSpPr>
        <p:spPr>
          <a:xfrm>
            <a:off x="2857500" y="563880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데이터팀이 수정할 대상과 RAG 담당이 검증할 기준을 문서로 연결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D4732A7-8645-4D6D-A43C-3EA96FDE1B0B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NIPA-Google Study Jam PBL 3기 · 2조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4A6FBA8-0155-498D-8750-4B873841A286}"/>
              </a:ext>
            </a:extLst>
          </p:cNvPr>
          <p:cNvSpPr>
            <a:spLocks noGrp="1"/>
          </p:cNvSpPr>
          <p:nvPr/>
        </p:nvSpPr>
        <p:spPr>
          <a:xfrm>
            <a:off x="10763250" y="6515100"/>
            <a:ext cx="8953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8477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7A96337A-8EC7-4D66-B259-48A9EA9C631B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809750" cy="304800"/>
          </a:xfrm>
          <a:prstGeom prst="roundRect">
            <a:avLst>
              <a:gd name="adj" fmla="val 50000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06  RAG 담당 수행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1FAC0B-23A8-479C-8EB1-968E368C29E0}"/>
              </a:ext>
            </a:extLst>
          </p:cNvPr>
          <p:cNvSpPr>
            <a:spLocks noGrp="1"/>
          </p:cNvSpPr>
          <p:nvPr/>
        </p:nvSpPr>
        <p:spPr>
          <a:xfrm>
            <a:off x="533400" y="8191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RAG 아키텍처 설계 — Embedding → Vector DB → Retriever → LLM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0C7622FA-1FE6-4369-86CD-D9C56C877BDC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11125200" cy="0"/>
          </a:xfrm>
          <a:prstGeom prst="line">
            <a:avLst/>
          </a:prstGeom>
          <a:noFill/>
          <a:ln w="9525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CBE367C-2C4A-449F-8139-C7F4947F44BC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2857500" cy="1123950"/>
          </a:xfrm>
          <a:prstGeom prst="roundRect">
            <a:avLst>
              <a:gd name="adj" fmla="val 15254"/>
            </a:avLst>
          </a:prstGeom>
          <a:solidFill>
            <a:srgbClr val="EAF3F8"/>
          </a:solidFill>
          <a:ln w="9525">
            <a:solidFill>
              <a:srgbClr val="EAF3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3EFA25D-C250-4598-9F5A-AEE8EAC8893A}"/>
              </a:ext>
            </a:extLst>
          </p:cNvPr>
          <p:cNvSpPr>
            <a:spLocks noGrp="1"/>
          </p:cNvSpPr>
          <p:nvPr/>
        </p:nvSpPr>
        <p:spPr>
          <a:xfrm>
            <a:off x="952500" y="2162175"/>
            <a:ext cx="419100" cy="419100"/>
          </a:xfrm>
          <a:prstGeom prst="ellipse">
            <a:avLst/>
          </a:prstGeom>
          <a:solidFill>
            <a:srgbClr val="4DAED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964729-8941-4384-AEF0-3C97E7C4B904}"/>
              </a:ext>
            </a:extLst>
          </p:cNvPr>
          <p:cNvSpPr>
            <a:spLocks noGrp="1"/>
          </p:cNvSpPr>
          <p:nvPr/>
        </p:nvSpPr>
        <p:spPr>
          <a:xfrm>
            <a:off x="952500" y="224790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5E8ACE-F41D-4A62-B21A-C7379F62AA71}"/>
              </a:ext>
            </a:extLst>
          </p:cNvPr>
          <p:cNvSpPr>
            <a:spLocks noGrp="1"/>
          </p:cNvSpPr>
          <p:nvPr/>
        </p:nvSpPr>
        <p:spPr>
          <a:xfrm>
            <a:off x="1524000" y="2143125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교육 데이터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EF08899-652E-4971-811B-1C12049BBB2A}"/>
              </a:ext>
            </a:extLst>
          </p:cNvPr>
          <p:cNvSpPr>
            <a:spLocks noGrp="1"/>
          </p:cNvSpPr>
          <p:nvPr/>
        </p:nvSpPr>
        <p:spPr>
          <a:xfrm>
            <a:off x="1524000" y="249555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정제된 단어·예문·규칙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FB9AAC8-66C0-442D-B2F4-B0D9C3928BE7}"/>
              </a:ext>
            </a:extLst>
          </p:cNvPr>
          <p:cNvSpPr>
            <a:spLocks noGrp="1"/>
          </p:cNvSpPr>
          <p:nvPr/>
        </p:nvSpPr>
        <p:spPr>
          <a:xfrm>
            <a:off x="4667250" y="1952625"/>
            <a:ext cx="2857500" cy="1123950"/>
          </a:xfrm>
          <a:prstGeom prst="roundRect">
            <a:avLst>
              <a:gd name="adj" fmla="val 15254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4EF09C9-E2BD-44AF-986C-D0441DC4096A}"/>
              </a:ext>
            </a:extLst>
          </p:cNvPr>
          <p:cNvSpPr>
            <a:spLocks noGrp="1"/>
          </p:cNvSpPr>
          <p:nvPr/>
        </p:nvSpPr>
        <p:spPr>
          <a:xfrm>
            <a:off x="4857750" y="2162175"/>
            <a:ext cx="419100" cy="419100"/>
          </a:xfrm>
          <a:prstGeom prst="ellipse">
            <a:avLst/>
          </a:prstGeom>
          <a:solidFill>
            <a:srgbClr val="16A89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397C013-4B0F-49D1-BE8D-0287FFA353CD}"/>
              </a:ext>
            </a:extLst>
          </p:cNvPr>
          <p:cNvSpPr>
            <a:spLocks noGrp="1"/>
          </p:cNvSpPr>
          <p:nvPr/>
        </p:nvSpPr>
        <p:spPr>
          <a:xfrm>
            <a:off x="4857750" y="224790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224FF2-72BF-4C7C-9998-53376681D29B}"/>
              </a:ext>
            </a:extLst>
          </p:cNvPr>
          <p:cNvSpPr>
            <a:spLocks noGrp="1"/>
          </p:cNvSpPr>
          <p:nvPr/>
        </p:nvSpPr>
        <p:spPr>
          <a:xfrm>
            <a:off x="5429250" y="2143125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Embedding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AE3516-6E8C-46C5-9776-8A22B4726A75}"/>
              </a:ext>
            </a:extLst>
          </p:cNvPr>
          <p:cNvSpPr>
            <a:spLocks noGrp="1"/>
          </p:cNvSpPr>
          <p:nvPr/>
        </p:nvSpPr>
        <p:spPr>
          <a:xfrm>
            <a:off x="5429250" y="249555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multilingual-e5-base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F9EA2CB-42A8-4EF7-8CF9-D061CC608A80}"/>
              </a:ext>
            </a:extLst>
          </p:cNvPr>
          <p:cNvSpPr>
            <a:spLocks noGrp="1"/>
          </p:cNvSpPr>
          <p:nvPr/>
        </p:nvSpPr>
        <p:spPr>
          <a:xfrm>
            <a:off x="8572500" y="1952625"/>
            <a:ext cx="2857500" cy="1123950"/>
          </a:xfrm>
          <a:prstGeom prst="roundRect">
            <a:avLst>
              <a:gd name="adj" fmla="val 15254"/>
            </a:avLst>
          </a:prstGeom>
          <a:solidFill>
            <a:srgbClr val="FFF7D9"/>
          </a:solidFill>
          <a:ln w="9525">
            <a:solidFill>
              <a:srgbClr val="FFF7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02DE816-6BC2-4530-B41E-39A1E47D0FE6}"/>
              </a:ext>
            </a:extLst>
          </p:cNvPr>
          <p:cNvSpPr>
            <a:spLocks noGrp="1"/>
          </p:cNvSpPr>
          <p:nvPr/>
        </p:nvSpPr>
        <p:spPr>
          <a:xfrm>
            <a:off x="8763000" y="2162175"/>
            <a:ext cx="419100" cy="419100"/>
          </a:xfrm>
          <a:prstGeom prst="ellipse">
            <a:avLst/>
          </a:prstGeom>
          <a:solidFill>
            <a:srgbClr val="E9B94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E7AFBCD-89C8-4013-B3CC-071C28FBB0E5}"/>
              </a:ext>
            </a:extLst>
          </p:cNvPr>
          <p:cNvSpPr>
            <a:spLocks noGrp="1"/>
          </p:cNvSpPr>
          <p:nvPr/>
        </p:nvSpPr>
        <p:spPr>
          <a:xfrm>
            <a:off x="8763000" y="224790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1CA70A4-E74E-4283-8735-2BC4393971D6}"/>
              </a:ext>
            </a:extLst>
          </p:cNvPr>
          <p:cNvSpPr>
            <a:spLocks noGrp="1"/>
          </p:cNvSpPr>
          <p:nvPr/>
        </p:nvSpPr>
        <p:spPr>
          <a:xfrm>
            <a:off x="9334500" y="2143125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Vector DB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D8C0473-11B2-4D88-B8FE-F784F38BDF67}"/>
              </a:ext>
            </a:extLst>
          </p:cNvPr>
          <p:cNvSpPr>
            <a:spLocks noGrp="1"/>
          </p:cNvSpPr>
          <p:nvPr/>
        </p:nvSpPr>
        <p:spPr>
          <a:xfrm>
            <a:off x="9334500" y="249555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Chroma 기반 PoC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242B95B-32A0-4DA8-AD15-974149B2498D}"/>
              </a:ext>
            </a:extLst>
          </p:cNvPr>
          <p:cNvSpPr>
            <a:spLocks noGrp="1"/>
          </p:cNvSpPr>
          <p:nvPr/>
        </p:nvSpPr>
        <p:spPr>
          <a:xfrm>
            <a:off x="8572500" y="4238625"/>
            <a:ext cx="2857500" cy="1123950"/>
          </a:xfrm>
          <a:prstGeom prst="roundRect">
            <a:avLst>
              <a:gd name="adj" fmla="val 15254"/>
            </a:avLst>
          </a:prstGeom>
          <a:solidFill>
            <a:srgbClr val="FCEDEA"/>
          </a:solidFill>
          <a:ln w="9525">
            <a:solidFill>
              <a:srgbClr val="FCED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DDF8B3B-2923-41FD-A0F4-7A37AF218951}"/>
              </a:ext>
            </a:extLst>
          </p:cNvPr>
          <p:cNvSpPr>
            <a:spLocks noGrp="1"/>
          </p:cNvSpPr>
          <p:nvPr/>
        </p:nvSpPr>
        <p:spPr>
          <a:xfrm>
            <a:off x="8763000" y="4448175"/>
            <a:ext cx="419100" cy="419100"/>
          </a:xfrm>
          <a:prstGeom prst="ellipse">
            <a:avLst/>
          </a:prstGeom>
          <a:solidFill>
            <a:srgbClr val="F27A6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76589DB-F2D8-4DB2-9621-F944619F99D3}"/>
              </a:ext>
            </a:extLst>
          </p:cNvPr>
          <p:cNvSpPr>
            <a:spLocks noGrp="1"/>
          </p:cNvSpPr>
          <p:nvPr/>
        </p:nvSpPr>
        <p:spPr>
          <a:xfrm>
            <a:off x="8763000" y="453390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21B3E52-1D28-4B94-B4A0-5D7FAE72B12C}"/>
              </a:ext>
            </a:extLst>
          </p:cNvPr>
          <p:cNvSpPr>
            <a:spLocks noGrp="1"/>
          </p:cNvSpPr>
          <p:nvPr/>
        </p:nvSpPr>
        <p:spPr>
          <a:xfrm>
            <a:off x="9334500" y="4429125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Retriever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1373BD6-9C13-45D7-8D5C-42AA3D775258}"/>
              </a:ext>
            </a:extLst>
          </p:cNvPr>
          <p:cNvSpPr>
            <a:spLocks noGrp="1"/>
          </p:cNvSpPr>
          <p:nvPr/>
        </p:nvSpPr>
        <p:spPr>
          <a:xfrm>
            <a:off x="9334500" y="478155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질문과 관련된 Chunk 검색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DE6A587-6963-48B9-A122-EAA10C0FAAA0}"/>
              </a:ext>
            </a:extLst>
          </p:cNvPr>
          <p:cNvSpPr>
            <a:spLocks noGrp="1"/>
          </p:cNvSpPr>
          <p:nvPr/>
        </p:nvSpPr>
        <p:spPr>
          <a:xfrm>
            <a:off x="4667250" y="4238625"/>
            <a:ext cx="2857500" cy="1123950"/>
          </a:xfrm>
          <a:prstGeom prst="roundRect">
            <a:avLst>
              <a:gd name="adj" fmla="val 15254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D05A8A30-260B-4C8C-ABB0-131641005DB8}"/>
              </a:ext>
            </a:extLst>
          </p:cNvPr>
          <p:cNvSpPr>
            <a:spLocks noGrp="1"/>
          </p:cNvSpPr>
          <p:nvPr/>
        </p:nvSpPr>
        <p:spPr>
          <a:xfrm>
            <a:off x="4857750" y="4448175"/>
            <a:ext cx="419100" cy="419100"/>
          </a:xfrm>
          <a:prstGeom prst="ellipse">
            <a:avLst/>
          </a:prstGeom>
          <a:solidFill>
            <a:srgbClr val="16A89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10AC3-C358-4CA8-B29D-3BFE6D3D7840}"/>
              </a:ext>
            </a:extLst>
          </p:cNvPr>
          <p:cNvSpPr>
            <a:spLocks noGrp="1"/>
          </p:cNvSpPr>
          <p:nvPr/>
        </p:nvSpPr>
        <p:spPr>
          <a:xfrm>
            <a:off x="4857750" y="453390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5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78051E0-BFE9-4CAE-B7FF-56C773D55106}"/>
              </a:ext>
            </a:extLst>
          </p:cNvPr>
          <p:cNvSpPr>
            <a:spLocks noGrp="1"/>
          </p:cNvSpPr>
          <p:nvPr/>
        </p:nvSpPr>
        <p:spPr>
          <a:xfrm>
            <a:off x="5429250" y="4429125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LLM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95D8A3A-6DF3-4351-8611-DB96ECDB02A1}"/>
              </a:ext>
            </a:extLst>
          </p:cNvPr>
          <p:cNvSpPr>
            <a:spLocks noGrp="1"/>
          </p:cNvSpPr>
          <p:nvPr/>
        </p:nvSpPr>
        <p:spPr>
          <a:xfrm>
            <a:off x="5429250" y="478155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검색 근거 + 질문으로 답변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A638A7C-4DF5-4A66-BB42-26C566C40A6E}"/>
              </a:ext>
            </a:extLst>
          </p:cNvPr>
          <p:cNvSpPr>
            <a:spLocks noGrp="1"/>
          </p:cNvSpPr>
          <p:nvPr/>
        </p:nvSpPr>
        <p:spPr>
          <a:xfrm>
            <a:off x="762000" y="4238625"/>
            <a:ext cx="2857500" cy="1123950"/>
          </a:xfrm>
          <a:prstGeom prst="roundRect">
            <a:avLst>
              <a:gd name="adj" fmla="val 15254"/>
            </a:avLst>
          </a:prstGeom>
          <a:solidFill>
            <a:srgbClr val="EAF3F8"/>
          </a:solidFill>
          <a:ln w="9525">
            <a:solidFill>
              <a:srgbClr val="EAF3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CBE51AF3-8265-4F02-A971-01EF92AEEB1F}"/>
              </a:ext>
            </a:extLst>
          </p:cNvPr>
          <p:cNvSpPr>
            <a:spLocks noGrp="1"/>
          </p:cNvSpPr>
          <p:nvPr/>
        </p:nvSpPr>
        <p:spPr>
          <a:xfrm>
            <a:off x="952500" y="4448175"/>
            <a:ext cx="419100" cy="419100"/>
          </a:xfrm>
          <a:prstGeom prst="ellipse">
            <a:avLst/>
          </a:prstGeom>
          <a:solidFill>
            <a:srgbClr val="4DAED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1F8C675-61FD-4F32-BA42-682C9DF85EC5}"/>
              </a:ext>
            </a:extLst>
          </p:cNvPr>
          <p:cNvSpPr>
            <a:spLocks noGrp="1"/>
          </p:cNvSpPr>
          <p:nvPr/>
        </p:nvSpPr>
        <p:spPr>
          <a:xfrm>
            <a:off x="952500" y="453390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6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8759185-F0BB-4ADC-9DC3-C5C379194013}"/>
              </a:ext>
            </a:extLst>
          </p:cNvPr>
          <p:cNvSpPr>
            <a:spLocks noGrp="1"/>
          </p:cNvSpPr>
          <p:nvPr/>
        </p:nvSpPr>
        <p:spPr>
          <a:xfrm>
            <a:off x="1524000" y="4429125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학습 화면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FA4A67C-AE89-441E-BB0E-B8AE405A7CF6}"/>
              </a:ext>
            </a:extLst>
          </p:cNvPr>
          <p:cNvSpPr>
            <a:spLocks noGrp="1"/>
          </p:cNvSpPr>
          <p:nvPr/>
        </p:nvSpPr>
        <p:spPr>
          <a:xfrm>
            <a:off x="1524000" y="478155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초3 수준 답변과 근거 표시</a:t>
            </a:r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9FA1BC74-8A8F-4912-BEFD-55E511B43F07}"/>
              </a:ext>
            </a:extLst>
          </p:cNvPr>
          <p:cNvSpPr>
            <a:spLocks noGrp="1"/>
          </p:cNvSpPr>
          <p:nvPr/>
        </p:nvSpPr>
        <p:spPr>
          <a:xfrm>
            <a:off x="3714750" y="2286000"/>
            <a:ext cx="762000" cy="342900"/>
          </a:xfrm>
          <a:prstGeom prst="rightArrow">
            <a:avLst/>
          </a:prstGeom>
          <a:solidFill>
            <a:srgbClr val="D6E2E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634F61A3-E3AC-45F2-BB5E-E01BF0BC480A}"/>
              </a:ext>
            </a:extLst>
          </p:cNvPr>
          <p:cNvSpPr>
            <a:spLocks noGrp="1"/>
          </p:cNvSpPr>
          <p:nvPr/>
        </p:nvSpPr>
        <p:spPr>
          <a:xfrm>
            <a:off x="7620000" y="2286000"/>
            <a:ext cx="762000" cy="342900"/>
          </a:xfrm>
          <a:prstGeom prst="rightArrow">
            <a:avLst/>
          </a:prstGeom>
          <a:solidFill>
            <a:srgbClr val="D6E2E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2D42F4F8-F8A8-411C-842C-338587CE9CC6}"/>
              </a:ext>
            </a:extLst>
          </p:cNvPr>
          <p:cNvSpPr>
            <a:spLocks noGrp="1"/>
          </p:cNvSpPr>
          <p:nvPr/>
        </p:nvSpPr>
        <p:spPr>
          <a:xfrm rot="5400000">
            <a:off x="9829800" y="3219450"/>
            <a:ext cx="342900" cy="819150"/>
          </a:xfrm>
          <a:prstGeom prst="rightArrow">
            <a:avLst/>
          </a:prstGeom>
          <a:solidFill>
            <a:srgbClr val="D6E2E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276B70C1-57FF-4AC8-A7B4-28DAE5F3A122}"/>
              </a:ext>
            </a:extLst>
          </p:cNvPr>
          <p:cNvSpPr>
            <a:spLocks noGrp="1"/>
          </p:cNvSpPr>
          <p:nvPr/>
        </p:nvSpPr>
        <p:spPr>
          <a:xfrm rot="10800000">
            <a:off x="7620000" y="4572000"/>
            <a:ext cx="762000" cy="342900"/>
          </a:xfrm>
          <a:prstGeom prst="rightArrow">
            <a:avLst/>
          </a:prstGeom>
          <a:solidFill>
            <a:srgbClr val="D6E2E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0456FF49-9554-46C1-B332-51C1F6AF5051}"/>
              </a:ext>
            </a:extLst>
          </p:cNvPr>
          <p:cNvSpPr>
            <a:spLocks noGrp="1"/>
          </p:cNvSpPr>
          <p:nvPr/>
        </p:nvSpPr>
        <p:spPr>
          <a:xfrm rot="10800000">
            <a:off x="3714750" y="4572000"/>
            <a:ext cx="762000" cy="342900"/>
          </a:xfrm>
          <a:prstGeom prst="rightArrow">
            <a:avLst/>
          </a:prstGeom>
          <a:solidFill>
            <a:srgbClr val="D6E2E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42FB12FF-8F15-412D-9461-C7328D58D052}"/>
              </a:ext>
            </a:extLst>
          </p:cNvPr>
          <p:cNvSpPr>
            <a:spLocks noGrp="1"/>
          </p:cNvSpPr>
          <p:nvPr/>
        </p:nvSpPr>
        <p:spPr>
          <a:xfrm>
            <a:off x="4686300" y="3371850"/>
            <a:ext cx="2819400" cy="495300"/>
          </a:xfrm>
          <a:prstGeom prst="roundRect">
            <a:avLst>
              <a:gd name="adj" fmla="val 26923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12655F6-07FF-4D2D-AD21-1907D0EFDD71}"/>
              </a:ext>
            </a:extLst>
          </p:cNvPr>
          <p:cNvSpPr>
            <a:spLocks noGrp="1"/>
          </p:cNvSpPr>
          <p:nvPr/>
        </p:nvSpPr>
        <p:spPr>
          <a:xfrm>
            <a:off x="4857750" y="351472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질문도 같은 모델로 Embedding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51C788F-2245-43E5-B845-B49F01CC07D9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NIPA-Google Study Jam PBL 3기 · 2조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4C05D75-B355-4422-8EA9-AF2E1BF2700A}"/>
              </a:ext>
            </a:extLst>
          </p:cNvPr>
          <p:cNvSpPr>
            <a:spLocks noGrp="1"/>
          </p:cNvSpPr>
          <p:nvPr/>
        </p:nvSpPr>
        <p:spPr>
          <a:xfrm>
            <a:off x="10763250" y="6515100"/>
            <a:ext cx="8953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58098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7931DF2-E24B-4A20-A47E-B8360B0C9EF9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809750" cy="304800"/>
          </a:xfrm>
          <a:prstGeom prst="roundRect">
            <a:avLst>
              <a:gd name="adj" fmla="val 50000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07  RAG 담당 수행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0101E3C-5D14-41B4-8097-AFF045FDBB18}"/>
              </a:ext>
            </a:extLst>
          </p:cNvPr>
          <p:cNvSpPr>
            <a:spLocks noGrp="1"/>
          </p:cNvSpPr>
          <p:nvPr/>
        </p:nvSpPr>
        <p:spPr>
          <a:xfrm>
            <a:off x="533400" y="8191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검색 구조 결정 — Chroma, multilingual-e5-base, Chunk/검색 방식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83761A2C-B58E-435D-A63B-3345717A0A64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11125200" cy="0"/>
          </a:xfrm>
          <a:prstGeom prst="line">
            <a:avLst/>
          </a:prstGeom>
          <a:noFill/>
          <a:ln w="9525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08E45A6-322C-4839-A0CB-C9726D00364D}"/>
              </a:ext>
            </a:extLst>
          </p:cNvPr>
          <p:cNvSpPr>
            <a:spLocks noGrp="1"/>
          </p:cNvSpPr>
          <p:nvPr/>
        </p:nvSpPr>
        <p:spPr>
          <a:xfrm>
            <a:off x="533400" y="1847850"/>
            <a:ext cx="11125200" cy="838200"/>
          </a:xfrm>
          <a:prstGeom prst="roundRect">
            <a:avLst>
              <a:gd name="adj" fmla="val 18182"/>
            </a:avLst>
          </a:prstGeom>
          <a:solidFill>
            <a:srgbClr val="FFF7D9"/>
          </a:solidFill>
          <a:ln w="9525">
            <a:solidFill>
              <a:srgbClr val="FFF7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DAAE323-F84C-4ED1-A9B4-64D0D477D589}"/>
              </a:ext>
            </a:extLst>
          </p:cNvPr>
          <p:cNvSpPr>
            <a:spLocks noGrp="1"/>
          </p:cNvSpPr>
          <p:nvPr/>
        </p:nvSpPr>
        <p:spPr>
          <a:xfrm>
            <a:off x="742950" y="209550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E9B94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E9B949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62F6A6-7137-456E-A4DD-4841E05995BB}"/>
              </a:ext>
            </a:extLst>
          </p:cNvPr>
          <p:cNvSpPr>
            <a:spLocks noGrp="1"/>
          </p:cNvSpPr>
          <p:nvPr/>
        </p:nvSpPr>
        <p:spPr>
          <a:xfrm>
            <a:off x="1238250" y="2057400"/>
            <a:ext cx="1381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Vector DB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D9D69A-A8F2-4AC9-AC8E-9137AAB18723}"/>
              </a:ext>
            </a:extLst>
          </p:cNvPr>
          <p:cNvSpPr>
            <a:spLocks noGrp="1"/>
          </p:cNvSpPr>
          <p:nvPr/>
        </p:nvSpPr>
        <p:spPr>
          <a:xfrm>
            <a:off x="2781300" y="2057400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E9B94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E9B949"/>
                </a:solidFill>
                <a:latin typeface="Noto Sans CJK KR"/>
                <a:ea typeface="Noto Sans CJK KR"/>
                <a:cs typeface="Noto Sans CJK KR"/>
              </a:rPr>
              <a:t>Chroma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7A0486-125B-47C7-80BC-A7E5EB3C054D}"/>
              </a:ext>
            </a:extLst>
          </p:cNvPr>
          <p:cNvSpPr>
            <a:spLocks noGrp="1"/>
          </p:cNvSpPr>
          <p:nvPr/>
        </p:nvSpPr>
        <p:spPr>
          <a:xfrm>
            <a:off x="5295900" y="2057400"/>
            <a:ext cx="4333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3주 PBL에서 설치·재구축이 단순한 PoC 선택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88DBFB6-3E67-4C4E-BBA5-12839D05E420}"/>
              </a:ext>
            </a:extLst>
          </p:cNvPr>
          <p:cNvSpPr>
            <a:spLocks noGrp="1"/>
          </p:cNvSpPr>
          <p:nvPr/>
        </p:nvSpPr>
        <p:spPr>
          <a:xfrm>
            <a:off x="9906000" y="2105025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FFF7D9"/>
          </a:solidFill>
          <a:ln w="9525">
            <a:solidFill>
              <a:srgbClr val="FFF7D9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E9B94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E9B949"/>
                </a:solidFill>
                <a:latin typeface="Noto Sans CJK KR"/>
                <a:ea typeface="Noto Sans CJK KR"/>
                <a:cs typeface="Noto Sans CJK KR"/>
              </a:rPr>
              <a:t>적용 기준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A7620E9-A243-4EAD-BAE5-5CFAC965D661}"/>
              </a:ext>
            </a:extLst>
          </p:cNvPr>
          <p:cNvSpPr>
            <a:spLocks noGrp="1"/>
          </p:cNvSpPr>
          <p:nvPr/>
        </p:nvSpPr>
        <p:spPr>
          <a:xfrm>
            <a:off x="533400" y="2914650"/>
            <a:ext cx="11125200" cy="838200"/>
          </a:xfrm>
          <a:prstGeom prst="roundRect">
            <a:avLst>
              <a:gd name="adj" fmla="val 18182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744AE9-F4DD-43A8-9772-47954257E955}"/>
              </a:ext>
            </a:extLst>
          </p:cNvPr>
          <p:cNvSpPr>
            <a:spLocks noGrp="1"/>
          </p:cNvSpPr>
          <p:nvPr/>
        </p:nvSpPr>
        <p:spPr>
          <a:xfrm>
            <a:off x="742950" y="316230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8A9E66-EE2E-46C2-8271-484E874F616C}"/>
              </a:ext>
            </a:extLst>
          </p:cNvPr>
          <p:cNvSpPr>
            <a:spLocks noGrp="1"/>
          </p:cNvSpPr>
          <p:nvPr/>
        </p:nvSpPr>
        <p:spPr>
          <a:xfrm>
            <a:off x="1238250" y="3124200"/>
            <a:ext cx="1381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Embedding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E82A2AB-9429-4D4E-ACD6-66E0E78484C5}"/>
              </a:ext>
            </a:extLst>
          </p:cNvPr>
          <p:cNvSpPr>
            <a:spLocks noGrp="1"/>
          </p:cNvSpPr>
          <p:nvPr/>
        </p:nvSpPr>
        <p:spPr>
          <a:xfrm>
            <a:off x="2781300" y="3124200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6A89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>
                <a:solidFill>
                  <a:srgbClr val="16A89A"/>
                </a:solidFill>
                <a:latin typeface="DejaVu Sans Mono"/>
                <a:ea typeface="DejaVu Sans Mono"/>
                <a:cs typeface="DejaVu Sans Mono"/>
              </a:rPr>
              <a:t>multilingual-e5-base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462C50-EAAB-46F3-9EF5-088F8F5C4B9D}"/>
              </a:ext>
            </a:extLst>
          </p:cNvPr>
          <p:cNvSpPr>
            <a:spLocks noGrp="1"/>
          </p:cNvSpPr>
          <p:nvPr/>
        </p:nvSpPr>
        <p:spPr>
          <a:xfrm>
            <a:off x="5295900" y="3124200"/>
            <a:ext cx="4333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한국어 질문과 영어 교육 콘텐츠를 함께 검색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0560426-79AE-44B7-ABA9-AF2BFE0E5C3E}"/>
              </a:ext>
            </a:extLst>
          </p:cNvPr>
          <p:cNvSpPr>
            <a:spLocks noGrp="1"/>
          </p:cNvSpPr>
          <p:nvPr/>
        </p:nvSpPr>
        <p:spPr>
          <a:xfrm>
            <a:off x="9906000" y="3171825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환경값 확정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FE7CD28-8C44-4AC0-9EC6-078A789FCBDA}"/>
              </a:ext>
            </a:extLst>
          </p:cNvPr>
          <p:cNvSpPr>
            <a:spLocks noGrp="1"/>
          </p:cNvSpPr>
          <p:nvPr/>
        </p:nvSpPr>
        <p:spPr>
          <a:xfrm>
            <a:off x="533400" y="3981450"/>
            <a:ext cx="11125200" cy="838200"/>
          </a:xfrm>
          <a:prstGeom prst="roundRect">
            <a:avLst>
              <a:gd name="adj" fmla="val 18182"/>
            </a:avLst>
          </a:prstGeom>
          <a:solidFill>
            <a:srgbClr val="EAF3F8"/>
          </a:solidFill>
          <a:ln w="9525">
            <a:solidFill>
              <a:srgbClr val="EAF3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100E90-830E-438B-ACDD-359672021C5E}"/>
              </a:ext>
            </a:extLst>
          </p:cNvPr>
          <p:cNvSpPr>
            <a:spLocks noGrp="1"/>
          </p:cNvSpPr>
          <p:nvPr/>
        </p:nvSpPr>
        <p:spPr>
          <a:xfrm>
            <a:off x="742950" y="422910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3BF33A7-DD3F-4EEB-8D85-D521F79812F6}"/>
              </a:ext>
            </a:extLst>
          </p:cNvPr>
          <p:cNvSpPr>
            <a:spLocks noGrp="1"/>
          </p:cNvSpPr>
          <p:nvPr/>
        </p:nvSpPr>
        <p:spPr>
          <a:xfrm>
            <a:off x="1238250" y="4191000"/>
            <a:ext cx="1381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Chunk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271B311-46A4-4818-B148-920C56FABFBA}"/>
              </a:ext>
            </a:extLst>
          </p:cNvPr>
          <p:cNvSpPr>
            <a:spLocks noGrp="1"/>
          </p:cNvSpPr>
          <p:nvPr/>
        </p:nvSpPr>
        <p:spPr>
          <a:xfrm>
            <a:off x="2781300" y="4191000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rPr>
              <a:t>교육 의미 단위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CA2ABDA-A318-4370-96C4-74E812110B67}"/>
              </a:ext>
            </a:extLst>
          </p:cNvPr>
          <p:cNvSpPr>
            <a:spLocks noGrp="1"/>
          </p:cNvSpPr>
          <p:nvPr/>
        </p:nvSpPr>
        <p:spPr>
          <a:xfrm>
            <a:off x="5295900" y="4191000"/>
            <a:ext cx="4333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단어·예문·규칙을 source_id와 메타데이터로 추적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6ED2BDC-7280-4C80-A152-5ADFD6E68BA4}"/>
              </a:ext>
            </a:extLst>
          </p:cNvPr>
          <p:cNvSpPr>
            <a:spLocks noGrp="1"/>
          </p:cNvSpPr>
          <p:nvPr/>
        </p:nvSpPr>
        <p:spPr>
          <a:xfrm>
            <a:off x="9906000" y="4238625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 w="9525">
            <a:solidFill>
              <a:srgbClr val="EAF3F8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rPr>
              <a:t>구조 설계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7C6872F-0CB2-4833-9615-C0E0B24F5C6D}"/>
              </a:ext>
            </a:extLst>
          </p:cNvPr>
          <p:cNvSpPr>
            <a:spLocks noGrp="1"/>
          </p:cNvSpPr>
          <p:nvPr/>
        </p:nvSpPr>
        <p:spPr>
          <a:xfrm>
            <a:off x="533400" y="5048250"/>
            <a:ext cx="11125200" cy="838200"/>
          </a:xfrm>
          <a:prstGeom prst="roundRect">
            <a:avLst>
              <a:gd name="adj" fmla="val 18182"/>
            </a:avLst>
          </a:prstGeom>
          <a:solidFill>
            <a:srgbClr val="FCEDEA"/>
          </a:solidFill>
          <a:ln w="9525">
            <a:solidFill>
              <a:srgbClr val="FCED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8E730F7-1F32-47EC-8F57-7465C1117BF8}"/>
              </a:ext>
            </a:extLst>
          </p:cNvPr>
          <p:cNvSpPr>
            <a:spLocks noGrp="1"/>
          </p:cNvSpPr>
          <p:nvPr/>
        </p:nvSpPr>
        <p:spPr>
          <a:xfrm>
            <a:off x="742950" y="529590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F27A6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F27A65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149812-6067-427C-8A8C-300DC285D0F1}"/>
              </a:ext>
            </a:extLst>
          </p:cNvPr>
          <p:cNvSpPr>
            <a:spLocks noGrp="1"/>
          </p:cNvSpPr>
          <p:nvPr/>
        </p:nvSpPr>
        <p:spPr>
          <a:xfrm>
            <a:off x="1238250" y="5257800"/>
            <a:ext cx="1381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Retrieval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A426752-FC50-40B4-967B-5DC527FC09DA}"/>
              </a:ext>
            </a:extLst>
          </p:cNvPr>
          <p:cNvSpPr>
            <a:spLocks noGrp="1"/>
          </p:cNvSpPr>
          <p:nvPr/>
        </p:nvSpPr>
        <p:spPr>
          <a:xfrm>
            <a:off x="2781300" y="5257800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F27A6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F27A65"/>
                </a:solidFill>
                <a:latin typeface="Noto Sans CJK KR"/>
                <a:ea typeface="Noto Sans CJK KR"/>
                <a:cs typeface="Noto Sans CJK KR"/>
              </a:rPr>
              <a:t>Vector + 조건 필터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6C81893-7AD8-474A-BEAA-A57914D48F23}"/>
              </a:ext>
            </a:extLst>
          </p:cNvPr>
          <p:cNvSpPr>
            <a:spLocks noGrp="1"/>
          </p:cNvSpPr>
          <p:nvPr/>
        </p:nvSpPr>
        <p:spPr>
          <a:xfrm>
            <a:off x="5295900" y="5257800"/>
            <a:ext cx="4333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학년·단원·유형 조건으로 범위를 먼저 좁힘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624896D-7B22-40A4-9A49-D5A827000200}"/>
              </a:ext>
            </a:extLst>
          </p:cNvPr>
          <p:cNvSpPr>
            <a:spLocks noGrp="1"/>
          </p:cNvSpPr>
          <p:nvPr/>
        </p:nvSpPr>
        <p:spPr>
          <a:xfrm>
            <a:off x="9906000" y="5305425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FCEDEA"/>
          </a:solidFill>
          <a:ln w="9525">
            <a:solidFill>
              <a:srgbClr val="FCEDEA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F27A6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F27A65"/>
                </a:solidFill>
                <a:latin typeface="Noto Sans CJK KR"/>
                <a:ea typeface="Noto Sans CJK KR"/>
                <a:cs typeface="Noto Sans CJK KR"/>
              </a:rPr>
              <a:t>검증 대상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37458B7-D857-4A89-8ADA-933DCD931026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NIPA-Google Study Jam PBL 3기 · 2조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33F8066-454F-40AA-A233-AEC725C06B57}"/>
              </a:ext>
            </a:extLst>
          </p:cNvPr>
          <p:cNvSpPr>
            <a:spLocks noGrp="1"/>
          </p:cNvSpPr>
          <p:nvPr/>
        </p:nvSpPr>
        <p:spPr>
          <a:xfrm>
            <a:off x="10763250" y="6515100"/>
            <a:ext cx="8953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2758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7ECEE4A-2C6E-4C27-BBF3-6F4E9EC628A5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809750" cy="304800"/>
          </a:xfrm>
          <a:prstGeom prst="roundRect">
            <a:avLst>
              <a:gd name="adj" fmla="val 50000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 dirty="0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lang="en-US" sz="1050" b="1" dirty="0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8</a:t>
            </a:r>
            <a:r>
              <a:rPr sz="1050" b="1" dirty="0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  RAG </a:t>
            </a:r>
            <a:r>
              <a:rPr sz="1050" b="1" dirty="0" err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담당</a:t>
            </a:r>
            <a:r>
              <a:rPr sz="1050" b="1" dirty="0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1" dirty="0" err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수행</a:t>
            </a:r>
            <a:r>
              <a:rPr sz="1050" b="1" dirty="0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1" dirty="0" err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내용</a:t>
            </a:r>
            <a:endParaRPr sz="1050" b="1" dirty="0">
              <a:solidFill>
                <a:srgbClr val="16A89A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CF7A8A1-357D-4325-8875-1696C193B8A1}"/>
              </a:ext>
            </a:extLst>
          </p:cNvPr>
          <p:cNvSpPr>
            <a:spLocks noGrp="1"/>
          </p:cNvSpPr>
          <p:nvPr/>
        </p:nvSpPr>
        <p:spPr>
          <a:xfrm>
            <a:off x="533400" y="8191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Golden Dataset·평가체계 설계 — Retrieval / Generation 분리 평가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8163839C-3DE5-498C-B946-D5E5857C4F47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11125200" cy="0"/>
          </a:xfrm>
          <a:prstGeom prst="line">
            <a:avLst/>
          </a:prstGeom>
          <a:noFill/>
          <a:ln w="9525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C00B8F5-6BFC-45E7-828F-B2AD20B25A3D}"/>
              </a:ext>
            </a:extLst>
          </p:cNvPr>
          <p:cNvSpPr>
            <a:spLocks noGrp="1"/>
          </p:cNvSpPr>
          <p:nvPr/>
        </p:nvSpPr>
        <p:spPr>
          <a:xfrm>
            <a:off x="533400" y="1581150"/>
            <a:ext cx="8572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정답이 틀렸을 때 ‘검색 실패’와 ‘생성 실패’를 구분할 수 있어야 한다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61DE29A-B529-4917-B8F3-B606AFA1CA31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5372100" cy="3143250"/>
          </a:xfrm>
          <a:prstGeom prst="roundRect">
            <a:avLst>
              <a:gd name="adj" fmla="val 6061"/>
            </a:avLst>
          </a:prstGeom>
          <a:solidFill>
            <a:srgbClr val="EAF3F8"/>
          </a:solidFill>
          <a:ln w="9525">
            <a:solidFill>
              <a:srgbClr val="EAF3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FE66BB3-B428-4CC8-AF53-7C752C66BAB7}"/>
              </a:ext>
            </a:extLst>
          </p:cNvPr>
          <p:cNvSpPr>
            <a:spLocks noGrp="1"/>
          </p:cNvSpPr>
          <p:nvPr/>
        </p:nvSpPr>
        <p:spPr>
          <a:xfrm>
            <a:off x="762000" y="2305050"/>
            <a:ext cx="1600200" cy="3048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 w="9525">
            <a:solidFill>
              <a:srgbClr val="EAF3F8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rPr>
              <a:t>RETRIEVAL 평가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52DE79-31B5-49A1-B478-D52C5BFF3349}"/>
              </a:ext>
            </a:extLst>
          </p:cNvPr>
          <p:cNvSpPr>
            <a:spLocks noGrp="1"/>
          </p:cNvSpPr>
          <p:nvPr/>
        </p:nvSpPr>
        <p:spPr>
          <a:xfrm>
            <a:off x="762000" y="2800350"/>
            <a:ext cx="4914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올바른 근거 Chunk를 찾았는가?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453C4F4-FDA5-4C39-9446-6DF7DFB8C1FC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90500" cy="190500"/>
          </a:xfrm>
          <a:prstGeom prst="ellipse">
            <a:avLst/>
          </a:prstGeom>
          <a:solidFill>
            <a:srgbClr val="4DAED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8B612A4-0CFB-4E34-AAA7-29E943CABE12}"/>
              </a:ext>
            </a:extLst>
          </p:cNvPr>
          <p:cNvSpPr>
            <a:spLocks noGrp="1"/>
          </p:cNvSpPr>
          <p:nvPr/>
        </p:nvSpPr>
        <p:spPr>
          <a:xfrm>
            <a:off x="1123950" y="3495675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Hit@K  정답 근거 포함 여부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F939F06-B15C-4F3C-AE84-89D540305B32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190500" cy="190500"/>
          </a:xfrm>
          <a:prstGeom prst="ellipse">
            <a:avLst/>
          </a:prstGeom>
          <a:solidFill>
            <a:srgbClr val="4DAED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95D83AC-9F0E-4964-B465-326AE7303FB4}"/>
              </a:ext>
            </a:extLst>
          </p:cNvPr>
          <p:cNvSpPr>
            <a:spLocks noGrp="1"/>
          </p:cNvSpPr>
          <p:nvPr/>
        </p:nvSpPr>
        <p:spPr>
          <a:xfrm>
            <a:off x="1123950" y="4010025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MRR  정답 근거의 검색 순위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2A8A512-AD78-4A57-B36D-3FCC077B5EF1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90500" cy="190500"/>
          </a:xfrm>
          <a:prstGeom prst="ellipse">
            <a:avLst/>
          </a:prstGeom>
          <a:solidFill>
            <a:srgbClr val="4DAED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F8273BA-E58F-4B11-A74E-EF83CA64C5FE}"/>
              </a:ext>
            </a:extLst>
          </p:cNvPr>
          <p:cNvSpPr>
            <a:spLocks noGrp="1"/>
          </p:cNvSpPr>
          <p:nvPr/>
        </p:nvSpPr>
        <p:spPr>
          <a:xfrm>
            <a:off x="1123950" y="4524375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Top-K 근거·source_id 기록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154FCED-76FC-4124-9BDE-2A0C781F1192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5372100" cy="3143250"/>
          </a:xfrm>
          <a:prstGeom prst="roundRect">
            <a:avLst>
              <a:gd name="adj" fmla="val 6061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F680A1E-53DC-43F9-8EFD-6C30AD54157E}"/>
              </a:ext>
            </a:extLst>
          </p:cNvPr>
          <p:cNvSpPr>
            <a:spLocks noGrp="1"/>
          </p:cNvSpPr>
          <p:nvPr/>
        </p:nvSpPr>
        <p:spPr>
          <a:xfrm>
            <a:off x="6515100" y="2305050"/>
            <a:ext cx="1600200" cy="304800"/>
          </a:xfrm>
          <a:prstGeom prst="roundRect">
            <a:avLst>
              <a:gd name="adj" fmla="val 50000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GENERATION 평가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D82707E-E38B-4B5A-803A-E3CE2FE9E163}"/>
              </a:ext>
            </a:extLst>
          </p:cNvPr>
          <p:cNvSpPr>
            <a:spLocks noGrp="1"/>
          </p:cNvSpPr>
          <p:nvPr/>
        </p:nvSpPr>
        <p:spPr>
          <a:xfrm>
            <a:off x="6515100" y="2800350"/>
            <a:ext cx="4914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찾은 근거로 정확히 답했는가?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4D20E06-AC5E-4EA4-BDEB-00B4E8982C88}"/>
              </a:ext>
            </a:extLst>
          </p:cNvPr>
          <p:cNvSpPr>
            <a:spLocks noGrp="1"/>
          </p:cNvSpPr>
          <p:nvPr/>
        </p:nvSpPr>
        <p:spPr>
          <a:xfrm>
            <a:off x="6534150" y="3524250"/>
            <a:ext cx="190500" cy="190500"/>
          </a:xfrm>
          <a:prstGeom prst="ellipse">
            <a:avLst/>
          </a:prstGeom>
          <a:solidFill>
            <a:srgbClr val="16A89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AA4B55-B5EF-4A52-8C8F-D2CEF4632831}"/>
              </a:ext>
            </a:extLst>
          </p:cNvPr>
          <p:cNvSpPr>
            <a:spLocks noGrp="1"/>
          </p:cNvSpPr>
          <p:nvPr/>
        </p:nvSpPr>
        <p:spPr>
          <a:xfrm>
            <a:off x="6877050" y="3495675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정답 일치·핵심 내용 포함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9B982A59-8C83-4070-A0BA-33CE2B478455}"/>
              </a:ext>
            </a:extLst>
          </p:cNvPr>
          <p:cNvSpPr>
            <a:spLocks noGrp="1"/>
          </p:cNvSpPr>
          <p:nvPr/>
        </p:nvSpPr>
        <p:spPr>
          <a:xfrm>
            <a:off x="6534150" y="4038600"/>
            <a:ext cx="190500" cy="190500"/>
          </a:xfrm>
          <a:prstGeom prst="ellipse">
            <a:avLst/>
          </a:prstGeom>
          <a:solidFill>
            <a:srgbClr val="16A89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E77E82F-DC12-441A-8900-349C4A36379F}"/>
              </a:ext>
            </a:extLst>
          </p:cNvPr>
          <p:cNvSpPr>
            <a:spLocks noGrp="1"/>
          </p:cNvSpPr>
          <p:nvPr/>
        </p:nvSpPr>
        <p:spPr>
          <a:xfrm>
            <a:off x="6877050" y="4010025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근거 충실성·초3 수준 준수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5C17DA9-44D3-4C70-A596-931F0166EB79}"/>
              </a:ext>
            </a:extLst>
          </p:cNvPr>
          <p:cNvSpPr>
            <a:spLocks noGrp="1"/>
          </p:cNvSpPr>
          <p:nvPr/>
        </p:nvSpPr>
        <p:spPr>
          <a:xfrm>
            <a:off x="6534150" y="4552950"/>
            <a:ext cx="190500" cy="190500"/>
          </a:xfrm>
          <a:prstGeom prst="ellipse">
            <a:avLst/>
          </a:prstGeom>
          <a:solidFill>
            <a:srgbClr val="16A89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C5D0CB5-5B65-4A30-BF97-87FB9F785440}"/>
              </a:ext>
            </a:extLst>
          </p:cNvPr>
          <p:cNvSpPr>
            <a:spLocks noGrp="1"/>
          </p:cNvSpPr>
          <p:nvPr/>
        </p:nvSpPr>
        <p:spPr>
          <a:xfrm>
            <a:off x="6877050" y="4524375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환각·범위 이탈 오류 분류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0168651-C0A3-4E8F-9AB9-A78FD2761526}"/>
              </a:ext>
            </a:extLst>
          </p:cNvPr>
          <p:cNvSpPr>
            <a:spLocks noGrp="1"/>
          </p:cNvSpPr>
          <p:nvPr/>
        </p:nvSpPr>
        <p:spPr>
          <a:xfrm>
            <a:off x="2381250" y="5543550"/>
            <a:ext cx="7429500" cy="552450"/>
          </a:xfrm>
          <a:prstGeom prst="roundRect">
            <a:avLst>
              <a:gd name="adj" fmla="val 25862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496638A-497A-4D69-AB7C-2775AAE9871F}"/>
              </a:ext>
            </a:extLst>
          </p:cNvPr>
          <p:cNvSpPr>
            <a:spLocks noGrp="1"/>
          </p:cNvSpPr>
          <p:nvPr/>
        </p:nvSpPr>
        <p:spPr>
          <a:xfrm>
            <a:off x="2609850" y="57150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8CE0D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8CE0D5"/>
                </a:solidFill>
                <a:latin typeface="Noto Sans CJK KR"/>
                <a:ea typeface="Noto Sans CJK KR"/>
                <a:cs typeface="Noto Sans CJK KR"/>
              </a:rPr>
              <a:t>Golden Dataset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FACD8C4-C23F-4C4E-9F92-3A82F3B92D41}"/>
              </a:ext>
            </a:extLst>
          </p:cNvPr>
          <p:cNvSpPr>
            <a:spLocks noGrp="1"/>
          </p:cNvSpPr>
          <p:nvPr/>
        </p:nvSpPr>
        <p:spPr>
          <a:xfrm>
            <a:off x="4229100" y="5638800"/>
            <a:ext cx="5295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질문 · 기준 정답 · 기대 근거 · 난이도 · 오류 유형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8B142EB-3BF0-4D1D-998F-A6EE5A4D185B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NIPA-Google Study Jam PBL 3기 · 2조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FF40715-E4D8-4EBD-AED8-5561BE60B53E}"/>
              </a:ext>
            </a:extLst>
          </p:cNvPr>
          <p:cNvSpPr>
            <a:spLocks noGrp="1"/>
          </p:cNvSpPr>
          <p:nvPr/>
        </p:nvSpPr>
        <p:spPr>
          <a:xfrm>
            <a:off x="10763250" y="6515100"/>
            <a:ext cx="8953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83359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4DE9962-C1E1-449D-92CA-783D3940DB11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809750" cy="304800"/>
          </a:xfrm>
          <a:prstGeom prst="roundRect">
            <a:avLst>
              <a:gd name="adj" fmla="val 50000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lang="en-US" sz="1050" b="1" dirty="0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09</a:t>
            </a:r>
            <a:r>
              <a:rPr sz="1050" b="1" dirty="0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  RAG </a:t>
            </a:r>
            <a:r>
              <a:rPr sz="1050" b="1" dirty="0" err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담당</a:t>
            </a:r>
            <a:r>
              <a:rPr sz="1050" b="1" dirty="0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1" dirty="0" err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수행</a:t>
            </a:r>
            <a:r>
              <a:rPr sz="1050" b="1" dirty="0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1" dirty="0" err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내용</a:t>
            </a:r>
            <a:endParaRPr sz="1050" b="1" dirty="0">
              <a:solidFill>
                <a:srgbClr val="16A89A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583C62-4E30-4F8E-A644-92C6AFF05E97}"/>
              </a:ext>
            </a:extLst>
          </p:cNvPr>
          <p:cNvSpPr>
            <a:spLocks noGrp="1"/>
          </p:cNvSpPr>
          <p:nvPr/>
        </p:nvSpPr>
        <p:spPr>
          <a:xfrm>
            <a:off x="533400" y="8191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데이터 수정 전·후 성능 비교 및 품질 개선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8F95B67B-624D-407B-859F-F6D8E9377E4F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11125200" cy="0"/>
          </a:xfrm>
          <a:prstGeom prst="line">
            <a:avLst/>
          </a:prstGeom>
          <a:noFill/>
          <a:ln w="9525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CE65BD-22AA-4126-8156-31829034C76D}"/>
              </a:ext>
            </a:extLst>
          </p:cNvPr>
          <p:cNvSpPr>
            <a:spLocks noGrp="1"/>
          </p:cNvSpPr>
          <p:nvPr/>
        </p:nvSpPr>
        <p:spPr>
          <a:xfrm>
            <a:off x="533400" y="15811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데이터 정제가 실제 RAG 성능을 개선했는지 같은 조건으로 비교하는 구조를 만들었다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C03BEA1-66CC-478F-947A-BCC6D24B3D73}"/>
              </a:ext>
            </a:extLst>
          </p:cNvPr>
          <p:cNvSpPr>
            <a:spLocks noGrp="1"/>
          </p:cNvSpPr>
          <p:nvPr/>
        </p:nvSpPr>
        <p:spPr>
          <a:xfrm>
            <a:off x="533400" y="2190750"/>
            <a:ext cx="3543300" cy="2876550"/>
          </a:xfrm>
          <a:prstGeom prst="roundRect">
            <a:avLst>
              <a:gd name="adj" fmla="val 6623"/>
            </a:avLst>
          </a:prstGeom>
          <a:solidFill>
            <a:srgbClr val="EAF3F8"/>
          </a:solidFill>
          <a:ln w="9525">
            <a:solidFill>
              <a:srgbClr val="EAF3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089670A-216E-429B-B815-86BE92926326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876300" cy="30480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 w="9525">
            <a:solidFill>
              <a:srgbClr val="EAF3F8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4DAED5"/>
                </a:solidFill>
                <a:latin typeface="Noto Sans CJK KR"/>
                <a:ea typeface="Noto Sans CJK KR"/>
                <a:cs typeface="Noto Sans CJK KR"/>
              </a:rPr>
              <a:t>BEFORE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7DC5B0-2B09-47C5-BC11-53F03AB92E24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3086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수정 전 Baseline</a:t>
            </a:r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F312C83E-7147-4002-983F-B09E0BF7171B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52400" cy="0"/>
          </a:xfrm>
          <a:prstGeom prst="line">
            <a:avLst/>
          </a:prstGeom>
          <a:noFill/>
          <a:ln w="38100">
            <a:solidFill>
              <a:srgbClr val="4DAE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C2104E2-7C73-4057-8D14-851F65C63D8D}"/>
              </a:ext>
            </a:extLst>
          </p:cNvPr>
          <p:cNvSpPr>
            <a:spLocks noGrp="1"/>
          </p:cNvSpPr>
          <p:nvPr/>
        </p:nvSpPr>
        <p:spPr>
          <a:xfrm>
            <a:off x="1066800" y="3371850"/>
            <a:ext cx="2667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원본 데이터 버전 고정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9E9E3B6E-4B91-4D8C-87F3-A68FA3948255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152400" cy="0"/>
          </a:xfrm>
          <a:prstGeom prst="line">
            <a:avLst/>
          </a:prstGeom>
          <a:noFill/>
          <a:ln w="38100">
            <a:solidFill>
              <a:srgbClr val="4DAE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56DA0B-AD86-4EAE-8419-895BEF0FA7A1}"/>
              </a:ext>
            </a:extLst>
          </p:cNvPr>
          <p:cNvSpPr>
            <a:spLocks noGrp="1"/>
          </p:cNvSpPr>
          <p:nvPr/>
        </p:nvSpPr>
        <p:spPr>
          <a:xfrm>
            <a:off x="1066800" y="3848100"/>
            <a:ext cx="2667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동일 질문·동일 모델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56174EBC-846E-4A57-9CC0-E9936617A049}"/>
              </a:ext>
            </a:extLst>
          </p:cNvPr>
          <p:cNvSpPr>
            <a:spLocks noGrp="1"/>
          </p:cNvSpPr>
          <p:nvPr/>
        </p:nvSpPr>
        <p:spPr>
          <a:xfrm>
            <a:off x="781050" y="4476750"/>
            <a:ext cx="152400" cy="0"/>
          </a:xfrm>
          <a:prstGeom prst="line">
            <a:avLst/>
          </a:prstGeom>
          <a:noFill/>
          <a:ln w="38100">
            <a:solidFill>
              <a:srgbClr val="4DAE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BA40F00-96D8-4552-8008-15FA84D90BBC}"/>
              </a:ext>
            </a:extLst>
          </p:cNvPr>
          <p:cNvSpPr>
            <a:spLocks noGrp="1"/>
          </p:cNvSpPr>
          <p:nvPr/>
        </p:nvSpPr>
        <p:spPr>
          <a:xfrm>
            <a:off x="1066800" y="4324350"/>
            <a:ext cx="2667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검색·생성 결과 저장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45CA639-5E64-4331-ACD5-22D4DB5FE150}"/>
              </a:ext>
            </a:extLst>
          </p:cNvPr>
          <p:cNvSpPr>
            <a:spLocks noGrp="1"/>
          </p:cNvSpPr>
          <p:nvPr/>
        </p:nvSpPr>
        <p:spPr>
          <a:xfrm>
            <a:off x="8115300" y="2190750"/>
            <a:ext cx="3543300" cy="2876550"/>
          </a:xfrm>
          <a:prstGeom prst="roundRect">
            <a:avLst>
              <a:gd name="adj" fmla="val 6623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52B0BE5-80BF-4BA9-9095-94390DB8B878}"/>
              </a:ext>
            </a:extLst>
          </p:cNvPr>
          <p:cNvSpPr>
            <a:spLocks noGrp="1"/>
          </p:cNvSpPr>
          <p:nvPr/>
        </p:nvSpPr>
        <p:spPr>
          <a:xfrm>
            <a:off x="8343900" y="2400300"/>
            <a:ext cx="876300" cy="304800"/>
          </a:xfrm>
          <a:prstGeom prst="roundRect">
            <a:avLst>
              <a:gd name="adj" fmla="val 50000"/>
            </a:avLst>
          </a:prstGeom>
          <a:solidFill>
            <a:srgbClr val="E6F6F3"/>
          </a:solidFill>
          <a:ln w="9525">
            <a:solidFill>
              <a:srgbClr val="E6F6F3"/>
            </a:solidFill>
            <a:prstDash val="solid"/>
          </a:ln>
        </p:spPr>
        <p:txBody>
          <a:bodyPr lIns="76200" tIns="28575" rIns="76200" bIns="28575" anchor="ctr">
            <a:normAutofit fontScale="98973"/>
          </a:bodyPr>
          <a:lstStyle/>
          <a:p>
            <a:pPr algn="ctr">
              <a:def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6A89A"/>
                </a:solidFill>
                <a:latin typeface="Noto Sans CJK KR"/>
                <a:ea typeface="Noto Sans CJK KR"/>
                <a:cs typeface="Noto Sans CJK KR"/>
              </a:rPr>
              <a:t>AFTER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0DE29A-9EB5-4E11-BD4D-845AD56128E9}"/>
              </a:ext>
            </a:extLst>
          </p:cNvPr>
          <p:cNvSpPr>
            <a:spLocks noGrp="1"/>
          </p:cNvSpPr>
          <p:nvPr/>
        </p:nvSpPr>
        <p:spPr>
          <a:xfrm>
            <a:off x="8343900" y="2876550"/>
            <a:ext cx="3086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팩트체크 반영 데이터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6014C1EA-F36C-4388-BCBA-E819839023FD}"/>
              </a:ext>
            </a:extLst>
          </p:cNvPr>
          <p:cNvSpPr>
            <a:spLocks noGrp="1"/>
          </p:cNvSpPr>
          <p:nvPr/>
        </p:nvSpPr>
        <p:spPr>
          <a:xfrm>
            <a:off x="8362950" y="3524250"/>
            <a:ext cx="152400" cy="0"/>
          </a:xfrm>
          <a:prstGeom prst="line">
            <a:avLst/>
          </a:prstGeom>
          <a:noFill/>
          <a:ln w="38100">
            <a:solidFill>
              <a:srgbClr val="16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65719EF-2E65-474C-B302-7887E479F743}"/>
              </a:ext>
            </a:extLst>
          </p:cNvPr>
          <p:cNvSpPr>
            <a:spLocks noGrp="1"/>
          </p:cNvSpPr>
          <p:nvPr/>
        </p:nvSpPr>
        <p:spPr>
          <a:xfrm>
            <a:off x="8648700" y="3371850"/>
            <a:ext cx="2667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오류·불일치 수정본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F83318C8-D096-4DF7-8256-6508F172D258}"/>
              </a:ext>
            </a:extLst>
          </p:cNvPr>
          <p:cNvSpPr>
            <a:spLocks noGrp="1"/>
          </p:cNvSpPr>
          <p:nvPr/>
        </p:nvSpPr>
        <p:spPr>
          <a:xfrm>
            <a:off x="8362950" y="4000500"/>
            <a:ext cx="152400" cy="0"/>
          </a:xfrm>
          <a:prstGeom prst="line">
            <a:avLst/>
          </a:prstGeom>
          <a:noFill/>
          <a:ln w="38100">
            <a:solidFill>
              <a:srgbClr val="16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CD3E0A-2575-419D-BE48-4FC401627DC6}"/>
              </a:ext>
            </a:extLst>
          </p:cNvPr>
          <p:cNvSpPr>
            <a:spLocks noGrp="1"/>
          </p:cNvSpPr>
          <p:nvPr/>
        </p:nvSpPr>
        <p:spPr>
          <a:xfrm>
            <a:off x="8648700" y="3848100"/>
            <a:ext cx="2667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같은 manifest 재실행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AF604D73-5702-4131-A9D2-BAA5B7341319}"/>
              </a:ext>
            </a:extLst>
          </p:cNvPr>
          <p:cNvSpPr>
            <a:spLocks noGrp="1"/>
          </p:cNvSpPr>
          <p:nvPr/>
        </p:nvSpPr>
        <p:spPr>
          <a:xfrm>
            <a:off x="8362950" y="4476750"/>
            <a:ext cx="152400" cy="0"/>
          </a:xfrm>
          <a:prstGeom prst="line">
            <a:avLst/>
          </a:prstGeom>
          <a:noFill/>
          <a:ln w="38100">
            <a:solidFill>
              <a:srgbClr val="16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2FD398C-1DC6-4116-AB2A-68FE03EB4692}"/>
              </a:ext>
            </a:extLst>
          </p:cNvPr>
          <p:cNvSpPr>
            <a:spLocks noGrp="1"/>
          </p:cNvSpPr>
          <p:nvPr/>
        </p:nvSpPr>
        <p:spPr>
          <a:xfrm>
            <a:off x="8648700" y="4324350"/>
            <a:ext cx="2667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지표·실패 유형 비교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677C9FA-32F2-45BA-92E7-98CBE2B48642}"/>
              </a:ext>
            </a:extLst>
          </p:cNvPr>
          <p:cNvSpPr>
            <a:spLocks noGrp="1"/>
          </p:cNvSpPr>
          <p:nvPr/>
        </p:nvSpPr>
        <p:spPr>
          <a:xfrm>
            <a:off x="4686300" y="2571750"/>
            <a:ext cx="2819400" cy="1924050"/>
          </a:xfrm>
          <a:prstGeom prst="roundRect">
            <a:avLst>
              <a:gd name="adj" fmla="val 9901"/>
            </a:avLst>
          </a:prstGeom>
          <a:solidFill>
            <a:srgbClr val="FFFFFF"/>
          </a:solidFill>
          <a:ln w="9525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8645D31-7C62-4E7F-8D10-06E53E8E574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동일 조건 비교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7FB13FF-7168-480B-9FAA-719D7201993D}"/>
              </a:ext>
            </a:extLst>
          </p:cNvPr>
          <p:cNvSpPr>
            <a:spLocks noGrp="1"/>
          </p:cNvSpPr>
          <p:nvPr/>
        </p:nvSpPr>
        <p:spPr>
          <a:xfrm>
            <a:off x="4953000" y="331470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Retrieval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FE58C71-F299-4042-B0DF-C5EF22DF8E14}"/>
              </a:ext>
            </a:extLst>
          </p:cNvPr>
          <p:cNvSpPr>
            <a:spLocks noGrp="1"/>
          </p:cNvSpPr>
          <p:nvPr/>
        </p:nvSpPr>
        <p:spPr>
          <a:xfrm>
            <a:off x="5829300" y="3276600"/>
            <a:ext cx="14097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Hit@K · MRR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AA28651-EAC2-4965-BD9F-BF37B048BD5D}"/>
              </a:ext>
            </a:extLst>
          </p:cNvPr>
          <p:cNvSpPr>
            <a:spLocks noGrp="1"/>
          </p:cNvSpPr>
          <p:nvPr/>
        </p:nvSpPr>
        <p:spPr>
          <a:xfrm>
            <a:off x="4953000" y="369570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Generation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4DF33D3-A5F5-47DF-8443-8DFD995D1056}"/>
              </a:ext>
            </a:extLst>
          </p:cNvPr>
          <p:cNvSpPr>
            <a:spLocks noGrp="1"/>
          </p:cNvSpPr>
          <p:nvPr/>
        </p:nvSpPr>
        <p:spPr>
          <a:xfrm>
            <a:off x="5829300" y="3657600"/>
            <a:ext cx="14097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정답·근거·수준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FA5D41A-C9FD-40FD-8283-A93F9240E8E5}"/>
              </a:ext>
            </a:extLst>
          </p:cNvPr>
          <p:cNvSpPr>
            <a:spLocks noGrp="1"/>
          </p:cNvSpPr>
          <p:nvPr/>
        </p:nvSpPr>
        <p:spPr>
          <a:xfrm>
            <a:off x="4953000" y="407670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운영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6B3C66B-E77A-4E07-B645-90F5508F8BC4}"/>
              </a:ext>
            </a:extLst>
          </p:cNvPr>
          <p:cNvSpPr>
            <a:spLocks noGrp="1"/>
          </p:cNvSpPr>
          <p:nvPr/>
        </p:nvSpPr>
        <p:spPr>
          <a:xfrm>
            <a:off x="5829300" y="4038600"/>
            <a:ext cx="14097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6324A"/>
                </a:solidFill>
                <a:latin typeface="Noto Sans CJK KR"/>
                <a:ea typeface="Noto Sans CJK KR"/>
                <a:cs typeface="Noto Sans CJK KR"/>
              </a:rPr>
              <a:t>응답시간 · 오류</a:t>
            </a: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A23A4F7A-458B-449A-A5FA-6FA4EBA7223F}"/>
              </a:ext>
            </a:extLst>
          </p:cNvPr>
          <p:cNvSpPr>
            <a:spLocks noGrp="1"/>
          </p:cNvSpPr>
          <p:nvPr/>
        </p:nvSpPr>
        <p:spPr>
          <a:xfrm>
            <a:off x="4171950" y="3238500"/>
            <a:ext cx="400050" cy="457200"/>
          </a:xfrm>
          <a:prstGeom prst="rightArrow">
            <a:avLst/>
          </a:prstGeom>
          <a:solidFill>
            <a:srgbClr val="D6E2E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C5792679-1402-4D75-B0EC-ADA718952944}"/>
              </a:ext>
            </a:extLst>
          </p:cNvPr>
          <p:cNvSpPr>
            <a:spLocks noGrp="1"/>
          </p:cNvSpPr>
          <p:nvPr/>
        </p:nvSpPr>
        <p:spPr>
          <a:xfrm>
            <a:off x="7620000" y="3238500"/>
            <a:ext cx="400050" cy="457200"/>
          </a:xfrm>
          <a:prstGeom prst="rightArrow">
            <a:avLst/>
          </a:prstGeom>
          <a:solidFill>
            <a:srgbClr val="D6E2E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6644B4F7-9CA9-4A7F-8241-BFB4C6CC68C2}"/>
              </a:ext>
            </a:extLst>
          </p:cNvPr>
          <p:cNvSpPr>
            <a:spLocks noGrp="1"/>
          </p:cNvSpPr>
          <p:nvPr/>
        </p:nvSpPr>
        <p:spPr>
          <a:xfrm>
            <a:off x="1524000" y="5410200"/>
            <a:ext cx="9144000" cy="571500"/>
          </a:xfrm>
          <a:prstGeom prst="roundRect">
            <a:avLst>
              <a:gd name="adj" fmla="val 25000"/>
            </a:avLst>
          </a:prstGeom>
          <a:solidFill>
            <a:srgbClr val="FCEDEA"/>
          </a:solidFill>
          <a:ln w="9525">
            <a:solidFill>
              <a:srgbClr val="FCED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040B5EB-EFB4-4150-B876-2CF458897C5F}"/>
              </a:ext>
            </a:extLst>
          </p:cNvPr>
          <p:cNvSpPr>
            <a:spLocks noGrp="1"/>
          </p:cNvSpPr>
          <p:nvPr/>
        </p:nvSpPr>
        <p:spPr>
          <a:xfrm>
            <a:off x="1771650" y="5591175"/>
            <a:ext cx="1123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F27A6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F27A65"/>
                </a:solidFill>
                <a:latin typeface="Noto Sans CJK KR"/>
                <a:ea typeface="Noto Sans CJK KR"/>
                <a:cs typeface="Noto Sans CJK KR"/>
              </a:rPr>
              <a:t>현재 상태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147E43A-DD9D-49CB-BA07-AD593AA4C32A}"/>
              </a:ext>
            </a:extLst>
          </p:cNvPr>
          <p:cNvSpPr>
            <a:spLocks noGrp="1"/>
          </p:cNvSpPr>
          <p:nvPr/>
        </p:nvSpPr>
        <p:spPr>
          <a:xfrm>
            <a:off x="2971800" y="5514975"/>
            <a:ext cx="733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비교 기준과 파일 구조는 마련했으며, 최종 성능 수치는 동일 환경 재실행 후 확정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54FFF90-C566-4595-9A7B-A9395700264A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NIPA-Google Study Jam PBL 3기 · 2조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F50060F-F1A6-4FD5-904E-B49536D5B075}"/>
              </a:ext>
            </a:extLst>
          </p:cNvPr>
          <p:cNvSpPr>
            <a:spLocks noGrp="1"/>
          </p:cNvSpPr>
          <p:nvPr/>
        </p:nvSpPr>
        <p:spPr>
          <a:xfrm>
            <a:off x="10763250" y="6515100"/>
            <a:ext cx="8953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lang="en-US" sz="825" dirty="0">
                <a:solidFill>
                  <a:srgbClr val="61788C"/>
                </a:solidFill>
                <a:latin typeface="Noto Sans CJK KR"/>
                <a:ea typeface="Noto Sans CJK KR"/>
                <a:cs typeface="Noto Sans CJK KR"/>
              </a:rPr>
              <a:t>9</a:t>
            </a:r>
            <a:endParaRPr sz="825" b="0" dirty="0">
              <a:solidFill>
                <a:srgbClr val="61788C"/>
              </a:solidFill>
              <a:latin typeface="Noto Sans CJK KR"/>
              <a:ea typeface="Noto Sans CJK KR"/>
              <a:cs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5095277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1328</Words>
  <Application>Microsoft Office PowerPoint</Application>
  <DocSecurity>0</DocSecurity>
  <PresentationFormat>와이드스크린</PresentationFormat>
  <Paragraphs>208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DejaVu Sans Mono</vt:lpstr>
      <vt:lpstr>Noto Sans CJK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지현 이</cp:lastModifiedBy>
  <cp:revision>3</cp:revision>
  <dcterms:created xsi:type="dcterms:W3CDTF">2026-09-22T01:49:06Z</dcterms:created>
  <dcterms:modified xsi:type="dcterms:W3CDTF">2026-09-22T02:07:06Z</dcterms:modified>
</cp:coreProperties>
</file>